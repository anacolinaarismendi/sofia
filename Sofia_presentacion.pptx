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18aedbc8-496c-04f3-28d2-011d4e0cac65}">
          <p14:sldIdLst>
            <p14:sldId id="256"/>
            <p14:sldId id="257"/>
          </p14:sldIdLst>
        </p14:section>
        <p14:section name="Los tres problemas" id="{ce8ab474-247b-3ac3-aebc-25a8c03ee60b}">
          <p14:sldIdLst>
            <p14:sldId id="258"/>
            <p14:sldId id="259"/>
            <p14:sldId id="260"/>
          </p14:sldIdLst>
        </p14:section>
        <p14:section name="La solución" id="{c3f5f200-ac4c-a824-c81a-6351686aa5a6}">
          <p14:sldIdLst>
            <p14:sldId id="261"/>
            <p14:sldId id="262"/>
          </p14:sldIdLst>
        </p14:section>
        <p14:section name="Interfaz en Streamlit" id="{513739df-7ab0-45ca-4f14-c042766682df}">
          <p14:sldIdLst>
            <p14:sldId id="263"/>
            <p14:sldId id="264"/>
            <p14:sldId id="265"/>
            <p14:sldId id="266"/>
            <p14:sldId id="267"/>
          </p14:sldIdLst>
        </p14:section>
        <p14:section name="Ingeniería de Sofia" id="{504fa7a5-c43d-8802-106f-423dadcd035e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onclusión" id="{41347576-c47e-e48e-47e9-30815862531f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429000"/>
            <a:ext cx="98755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8F"/>
                </a:solidFill>
              </a:rPr>
              <a:t>Sofia · RAG clínico contra la polifarmacia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Sofia</a:t>
            </a:r>
            <a:endParaRPr lang="en-US" sz="6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429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Sistema RAG local, privado y determinista contra los peligros de la polifarmacia en psicofármacos</a:t>
            </a:r>
            <a:endParaRPr lang="en-US" sz="2400" dirty="0"/>
          </a:p>
        </p:txBody>
      </p:sp>
      <p:sp>
        <p:nvSpPr>
          <p:cNvPr id="4" name="Texto 1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Grounding estricto con trazabilidad [DOC-ID]  ·  Informes en 4 secciones  ·  Voice Snippet &lt; 40 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 polifarmacia, una realidad cotidiana</a:t>
            </a:r>
            <a:endParaRPr lang="en-US" sz="3400" dirty="0"/>
          </a:p>
        </p:txBody>
      </p:sp>
      <p:sp>
        <p:nvSpPr>
          <p:cNvPr id="3" name="Texto 2"/>
          <p:cNvSpPr txBox="1"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En el tratamiento psiquiátrico contemporáneo, un paciente no suele tomar un único psicofármaco, sino combinaciones de:</a:t>
            </a:r>
            <a:endParaRPr lang="en-US" sz="2000" dirty="0"/>
          </a:p>
        </p:txBody>
      </p:sp>
      <p:sp>
        <p:nvSpPr>
          <p:cNvPr id="4" name="Tarjeta 3"/>
          <p:cNvSpPr/>
          <p:nvPr/>
        </p:nvSpPr>
        <p:spPr>
          <a:xfrm>
            <a:off x="548640" y="219456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5" name="Texto 4"/>
          <p:cNvSpPr txBox="1"/>
          <p:nvPr/>
        </p:nvSpPr>
        <p:spPr>
          <a:xfrm>
            <a:off x="640080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Antidepresivos</a:t>
            </a:r>
            <a:endParaRPr lang="en-US" sz="2000" dirty="0"/>
          </a:p>
        </p:txBody>
      </p:sp>
      <p:sp>
        <p:nvSpPr>
          <p:cNvPr id="6" name="Tarjeta 5"/>
          <p:cNvSpPr/>
          <p:nvPr/>
        </p:nvSpPr>
        <p:spPr>
          <a:xfrm>
            <a:off x="3374136" y="219456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7" name="Texto 6"/>
          <p:cNvSpPr txBox="1"/>
          <p:nvPr/>
        </p:nvSpPr>
        <p:spPr>
          <a:xfrm>
            <a:off x="3465576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Antipsicóticos</a:t>
            </a:r>
            <a:endParaRPr lang="en-US" sz="2000" dirty="0"/>
          </a:p>
        </p:txBody>
      </p:sp>
      <p:sp>
        <p:nvSpPr>
          <p:cNvPr id="8" name="Tarjeta 7"/>
          <p:cNvSpPr/>
          <p:nvPr/>
        </p:nvSpPr>
        <p:spPr>
          <a:xfrm>
            <a:off x="6199632" y="219456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9" name="Texto 8"/>
          <p:cNvSpPr txBox="1"/>
          <p:nvPr/>
        </p:nvSpPr>
        <p:spPr>
          <a:xfrm>
            <a:off x="6291072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Estabilizadores del ánimo</a:t>
            </a:r>
            <a:endParaRPr lang="en-US" sz="2000" dirty="0"/>
          </a:p>
        </p:txBody>
      </p:sp>
      <p:sp>
        <p:nvSpPr>
          <p:cNvPr id="10" name="Tarjeta 9"/>
          <p:cNvSpPr/>
          <p:nvPr/>
        </p:nvSpPr>
        <p:spPr>
          <a:xfrm>
            <a:off x="9025128" y="2194560"/>
            <a:ext cx="26060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11" name="Texto 10"/>
          <p:cNvSpPr txBox="1"/>
          <p:nvPr/>
        </p:nvSpPr>
        <p:spPr>
          <a:xfrm>
            <a:off x="9116568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Ansiolíticos</a:t>
            </a:r>
            <a:endParaRPr lang="en-US" sz="2000" dirty="0"/>
          </a:p>
        </p:txBody>
      </p:sp>
      <p:sp>
        <p:nvSpPr>
          <p:cNvPr id="12" name="Texto 11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Esta práctica encierra tres peligros críticos que motivaron la creación de Sofia:</a:t>
            </a:r>
            <a:endParaRPr lang="en-US" sz="2000" dirty="0"/>
          </a:p>
        </p:txBody>
      </p:sp>
      <p:sp>
        <p:nvSpPr>
          <p:cNvPr id="13" name="Tarjeta 12"/>
          <p:cNvSpPr/>
          <p:nvPr/>
        </p:nvSpPr>
        <p:spPr>
          <a:xfrm>
            <a:off x="548640" y="411480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Círculo 13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Número 14"/>
          <p:cNvSpPr txBox="1"/>
          <p:nvPr/>
        </p:nvSpPr>
        <p:spPr>
          <a:xfrm>
            <a:off x="82296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</a:t>
            </a:r>
            <a:endParaRPr lang="en-US" sz="2100" dirty="0"/>
          </a:p>
        </p:txBody>
      </p:sp>
      <p:sp>
        <p:nvSpPr>
          <p:cNvPr id="16" name="Texto 15"/>
          <p:cNvSpPr txBox="1"/>
          <p:nvPr/>
        </p:nvSpPr>
        <p:spPr>
          <a:xfrm>
            <a:off x="822960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Interacciones farmacocinéticas en los citocromos hepáticos (CYP450)</a:t>
            </a:r>
            <a:endParaRPr lang="en-US" sz="1800" dirty="0"/>
          </a:p>
        </p:txBody>
      </p:sp>
      <p:sp>
        <p:nvSpPr>
          <p:cNvPr id="17" name="Tarjeta 16"/>
          <p:cNvSpPr/>
          <p:nvPr/>
        </p:nvSpPr>
        <p:spPr>
          <a:xfrm>
            <a:off x="4311396" y="411480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8" name="Círculo 17"/>
          <p:cNvSpPr/>
          <p:nvPr/>
        </p:nvSpPr>
        <p:spPr>
          <a:xfrm>
            <a:off x="4585716" y="43434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Número 18"/>
          <p:cNvSpPr txBox="1"/>
          <p:nvPr/>
        </p:nvSpPr>
        <p:spPr>
          <a:xfrm>
            <a:off x="4585716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2</a:t>
            </a:r>
            <a:endParaRPr lang="en-US" sz="2100" dirty="0"/>
          </a:p>
        </p:txBody>
      </p:sp>
      <p:sp>
        <p:nvSpPr>
          <p:cNvPr id="20" name="Texto 19"/>
          <p:cNvSpPr txBox="1"/>
          <p:nvPr/>
        </p:nvSpPr>
        <p:spPr>
          <a:xfrm>
            <a:off x="4585716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Cascada de prescripción</a:t>
            </a:r>
            <a:endParaRPr lang="en-US" sz="1800" dirty="0"/>
          </a:p>
        </p:txBody>
      </p:sp>
      <p:sp>
        <p:nvSpPr>
          <p:cNvPr id="21" name="Tarjeta 20"/>
          <p:cNvSpPr/>
          <p:nvPr/>
        </p:nvSpPr>
        <p:spPr>
          <a:xfrm>
            <a:off x="8074152" y="411480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2" name="Círculo 21"/>
          <p:cNvSpPr/>
          <p:nvPr/>
        </p:nvSpPr>
        <p:spPr>
          <a:xfrm>
            <a:off x="8348472" y="43434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Número 22"/>
          <p:cNvSpPr txBox="1"/>
          <p:nvPr/>
        </p:nvSpPr>
        <p:spPr>
          <a:xfrm>
            <a:off x="8348472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3</a:t>
            </a:r>
            <a:endParaRPr lang="en-US" sz="2100" dirty="0"/>
          </a:p>
        </p:txBody>
      </p:sp>
      <p:sp>
        <p:nvSpPr>
          <p:cNvPr id="24" name="Texto 23"/>
          <p:cNvSpPr txBox="1"/>
          <p:nvPr/>
        </p:nvSpPr>
        <p:spPr>
          <a:xfrm>
            <a:off x="8348472" y="5166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Falta de adherencia a guías basadas en la evidencia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Problema 1: Interacciones CYP450</a:t>
            </a:r>
            <a:endParaRPr lang="en-US" sz="3400" dirty="0"/>
          </a:p>
        </p:txBody>
      </p:sp>
      <p:sp>
        <p:nvSpPr>
          <p:cNvPr id="3" name="Tarjeta 24"/>
          <p:cNvSpPr/>
          <p:nvPr/>
        </p:nvSpPr>
        <p:spPr>
          <a:xfrm>
            <a:off x="548640" y="1417320"/>
            <a:ext cx="603504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</p:spPr>
      </p:sp>
      <p:sp>
        <p:nvSpPr>
          <p:cNvPr id="4" name="Texto 25"/>
          <p:cNvSpPr txBox="1"/>
          <p:nvPr/>
        </p:nvSpPr>
        <p:spPr>
          <a:xfrm>
            <a:off x="868680" y="1691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Interacciones farmacocinéticas en los citocromos hepáticos (CYP450)</a:t>
            </a:r>
            <a:endParaRPr lang="en-US" sz="2000" dirty="0"/>
          </a:p>
        </p:txBody>
      </p:sp>
      <p:sp>
        <p:nvSpPr>
          <p:cNvPr id="5" name="Texto 26"/>
          <p:cNvSpPr txBox="1"/>
          <p:nvPr/>
        </p:nvSpPr>
        <p:spPr>
          <a:xfrm>
            <a:off x="868680" y="2606040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Fármacos como la paroxetina o el bupropión inhiben potentemente la enzima CYP2D6.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 el paciente toma además risperidona o haloperidol, sus niveles plasmáticos se multiplican.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Puede provocar toxicidad extrapiramidal o arritmias cardíacas.</a:t>
            </a:r>
            <a:endParaRPr lang="en-US" sz="1800" dirty="0"/>
          </a:p>
        </p:txBody>
      </p:sp>
      <p:sp>
        <p:nvSpPr>
          <p:cNvPr id="6" name="Tarjeta 27"/>
          <p:cNvSpPr/>
          <p:nvPr/>
        </p:nvSpPr>
        <p:spPr>
          <a:xfrm>
            <a:off x="6858000" y="1417320"/>
            <a:ext cx="4782312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/>
        </p:spPr>
      </p:sp>
      <p:sp>
        <p:nvSpPr>
          <p:cNvPr id="7" name="Texto 28"/>
          <p:cNvSpPr txBox="1"/>
          <p:nvPr/>
        </p:nvSpPr>
        <p:spPr>
          <a:xfrm>
            <a:off x="717804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Ejemplo sencillo</a:t>
            </a:r>
            <a:endParaRPr lang="en-US" sz="2000" dirty="0"/>
          </a:p>
        </p:txBody>
      </p:sp>
      <p:sp>
        <p:nvSpPr>
          <p:cNvPr id="8" name="Círculo 29"/>
          <p:cNvSpPr/>
          <p:nvPr/>
        </p:nvSpPr>
        <p:spPr>
          <a:xfrm>
            <a:off x="7178040" y="23317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Número 30"/>
          <p:cNvSpPr txBox="1"/>
          <p:nvPr/>
        </p:nvSpPr>
        <p:spPr>
          <a:xfrm>
            <a:off x="71780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o 31"/>
          <p:cNvSpPr txBox="1"/>
          <p:nvPr/>
        </p:nvSpPr>
        <p:spPr>
          <a:xfrm>
            <a:off x="7863840" y="228600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Una persona toma paroxetina para la depresión y, además, risperidona como antipsicótico.</a:t>
            </a:r>
            <a:endParaRPr lang="en-US" sz="1800" dirty="0"/>
          </a:p>
        </p:txBody>
      </p:sp>
      <p:sp>
        <p:nvSpPr>
          <p:cNvPr id="11" name="Círculo 32"/>
          <p:cNvSpPr/>
          <p:nvPr/>
        </p:nvSpPr>
        <p:spPr>
          <a:xfrm>
            <a:off x="7178040" y="4206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Número 33"/>
          <p:cNvSpPr txBox="1"/>
          <p:nvPr/>
        </p:nvSpPr>
        <p:spPr>
          <a:xfrm>
            <a:off x="71780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o 34"/>
          <p:cNvSpPr txBox="1"/>
          <p:nvPr/>
        </p:nvSpPr>
        <p:spPr>
          <a:xfrm>
            <a:off x="7863840" y="416052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La paroxetina bloquea CYP2D6 y los niveles de risperidona en sangre se multiplican: aumenta el riesgo de toxicidad extrapiramidal o de arritmias.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Problema 2: Cascada de prescripción</a:t>
            </a:r>
            <a:endParaRPr lang="en-US" sz="3400" dirty="0"/>
          </a:p>
        </p:txBody>
      </p:sp>
      <p:sp>
        <p:nvSpPr>
          <p:cNvPr id="3" name="Tarjeta 35"/>
          <p:cNvSpPr/>
          <p:nvPr/>
        </p:nvSpPr>
        <p:spPr>
          <a:xfrm>
            <a:off x="548640" y="1417320"/>
            <a:ext cx="603504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</p:spPr>
      </p:sp>
      <p:sp>
        <p:nvSpPr>
          <p:cNvPr id="4" name="Texto 36"/>
          <p:cNvSpPr txBox="1"/>
          <p:nvPr/>
        </p:nvSpPr>
        <p:spPr>
          <a:xfrm>
            <a:off x="868680" y="1691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Muy frecuente en la práctica médica</a:t>
            </a:r>
            <a:endParaRPr lang="en-US" sz="2000" dirty="0"/>
          </a:p>
        </p:txBody>
      </p:sp>
      <p:sp>
        <p:nvSpPr>
          <p:cNvPr id="5" name="Texto 37"/>
          <p:cNvSpPr txBox="1"/>
          <p:nvPr/>
        </p:nvSpPr>
        <p:spPr>
          <a:xfrm>
            <a:off x="868680" y="2606040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fármaco genera un efecto adverso (por ejemplo, haloperidol provocando rigidez y temblor parkinsoniano).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El médico a veces lo interpreta erróneamente como una nueva patología y añade un segundo fármaco (como biperideno).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Esto perpetúa una cadena de iatrogenia que incrementa el riesgo de discinesia tardía irreversible y deterioro cognitivo.</a:t>
            </a:r>
            <a:endParaRPr lang="en-US" sz="1800" dirty="0"/>
          </a:p>
        </p:txBody>
      </p:sp>
      <p:sp>
        <p:nvSpPr>
          <p:cNvPr id="6" name="Tarjeta 38"/>
          <p:cNvSpPr/>
          <p:nvPr/>
        </p:nvSpPr>
        <p:spPr>
          <a:xfrm>
            <a:off x="6858000" y="1417320"/>
            <a:ext cx="4782312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/>
        </p:spPr>
      </p:sp>
      <p:sp>
        <p:nvSpPr>
          <p:cNvPr id="7" name="Texto 39"/>
          <p:cNvSpPr txBox="1"/>
          <p:nvPr/>
        </p:nvSpPr>
        <p:spPr>
          <a:xfrm>
            <a:off x="717804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Ejemplo sencillo</a:t>
            </a:r>
            <a:endParaRPr lang="en-US" sz="2000" dirty="0"/>
          </a:p>
        </p:txBody>
      </p:sp>
      <p:sp>
        <p:nvSpPr>
          <p:cNvPr id="8" name="Círculo 40"/>
          <p:cNvSpPr/>
          <p:nvPr/>
        </p:nvSpPr>
        <p:spPr>
          <a:xfrm>
            <a:off x="7178040" y="23317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Número 41"/>
          <p:cNvSpPr txBox="1"/>
          <p:nvPr/>
        </p:nvSpPr>
        <p:spPr>
          <a:xfrm>
            <a:off x="71780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o 42"/>
          <p:cNvSpPr txBox="1"/>
          <p:nvPr/>
        </p:nvSpPr>
        <p:spPr>
          <a:xfrm>
            <a:off x="7863840" y="228600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Un paciente empieza con haloperidol y a las pocas semanas presenta rigidez y temblor.</a:t>
            </a:r>
            <a:endParaRPr lang="en-US" sz="1800" dirty="0"/>
          </a:p>
        </p:txBody>
      </p:sp>
      <p:sp>
        <p:nvSpPr>
          <p:cNvPr id="11" name="Círculo 43"/>
          <p:cNvSpPr/>
          <p:nvPr/>
        </p:nvSpPr>
        <p:spPr>
          <a:xfrm>
            <a:off x="7178040" y="4206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Número 44"/>
          <p:cNvSpPr txBox="1"/>
          <p:nvPr/>
        </p:nvSpPr>
        <p:spPr>
          <a:xfrm>
            <a:off x="71780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o 45"/>
          <p:cNvSpPr txBox="1"/>
          <p:nvPr/>
        </p:nvSpPr>
        <p:spPr>
          <a:xfrm>
            <a:off x="7863840" y="416052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Se interpreta como una enfermedad nueva y se le añade biperideno, cuando el origen era el propio haloperidol: ahora toma dos fármacos y se inicia la cadena.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Problema 3: Falta de adherencia a guías</a:t>
            </a:r>
            <a:endParaRPr lang="en-US" sz="3400" dirty="0"/>
          </a:p>
        </p:txBody>
      </p:sp>
      <p:sp>
        <p:nvSpPr>
          <p:cNvPr id="3" name="Tarjeta 46"/>
          <p:cNvSpPr/>
          <p:nvPr/>
        </p:nvSpPr>
        <p:spPr>
          <a:xfrm>
            <a:off x="548640" y="1417320"/>
            <a:ext cx="603504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</p:spPr>
      </p:sp>
      <p:sp>
        <p:nvSpPr>
          <p:cNvPr id="4" name="Texto 47"/>
          <p:cNvSpPr txBox="1"/>
          <p:nvPr/>
        </p:nvSpPr>
        <p:spPr>
          <a:xfrm>
            <a:off x="868680" y="1691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Falta de adherencia a guías basadas en la evidencia</a:t>
            </a:r>
            <a:endParaRPr lang="en-US" sz="2000" dirty="0"/>
          </a:p>
        </p:txBody>
      </p:sp>
      <p:sp>
        <p:nvSpPr>
          <p:cNvPr id="5" name="Texto 48"/>
          <p:cNvSpPr txBox="1"/>
          <p:nvPr/>
        </p:nvSpPr>
        <p:spPr>
          <a:xfrm>
            <a:off x="868680" y="2606040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Por ejemplo, las guías internacionales CANMAT/ISBD 2018 desaconsejan tajantemente el uso de antidepresivos solos en la depresión bipolar.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El motivo: riesgo de viraje maníaco.</a:t>
            </a:r>
            <a:endParaRPr lang="en-US" sz="1800" dirty="0"/>
          </a:p>
        </p:txBody>
      </p:sp>
      <p:sp>
        <p:nvSpPr>
          <p:cNvPr id="6" name="Tarjeta 49"/>
          <p:cNvSpPr/>
          <p:nvPr/>
        </p:nvSpPr>
        <p:spPr>
          <a:xfrm>
            <a:off x="6858000" y="1417320"/>
            <a:ext cx="4782312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/>
        </p:spPr>
      </p:sp>
      <p:sp>
        <p:nvSpPr>
          <p:cNvPr id="7" name="Texto 50"/>
          <p:cNvSpPr txBox="1"/>
          <p:nvPr/>
        </p:nvSpPr>
        <p:spPr>
          <a:xfrm>
            <a:off x="717804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Ejemplo sencillo</a:t>
            </a:r>
            <a:endParaRPr lang="en-US" sz="2000" dirty="0"/>
          </a:p>
        </p:txBody>
      </p:sp>
      <p:sp>
        <p:nvSpPr>
          <p:cNvPr id="8" name="Círculo 51"/>
          <p:cNvSpPr/>
          <p:nvPr/>
        </p:nvSpPr>
        <p:spPr>
          <a:xfrm>
            <a:off x="7178040" y="23317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Número 52"/>
          <p:cNvSpPr txBox="1"/>
          <p:nvPr/>
        </p:nvSpPr>
        <p:spPr>
          <a:xfrm>
            <a:off x="71780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o 53"/>
          <p:cNvSpPr txBox="1"/>
          <p:nvPr/>
        </p:nvSpPr>
        <p:spPr>
          <a:xfrm>
            <a:off x="7863840" y="228600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Una persona con depresión bipolar recibe un único antidepresivo, como si fuera una depresión común.</a:t>
            </a:r>
            <a:endParaRPr lang="en-US" sz="1800" dirty="0"/>
          </a:p>
        </p:txBody>
      </p:sp>
      <p:sp>
        <p:nvSpPr>
          <p:cNvPr id="11" name="Círculo 54"/>
          <p:cNvSpPr/>
          <p:nvPr/>
        </p:nvSpPr>
        <p:spPr>
          <a:xfrm>
            <a:off x="7178040" y="42062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Número 55"/>
          <p:cNvSpPr txBox="1"/>
          <p:nvPr/>
        </p:nvSpPr>
        <p:spPr>
          <a:xfrm>
            <a:off x="71780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o 56"/>
          <p:cNvSpPr txBox="1"/>
          <p:nvPr/>
        </p:nvSpPr>
        <p:spPr>
          <a:xfrm>
            <a:off x="7863840" y="416052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CANMAT/ISBD 2018 lo desaconseja: el paciente puede pasar de la depresión a un episodio de manía (viraje maníaco).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¿Por qué no usar un LLM generalista?</a:t>
            </a:r>
            <a:endParaRPr lang="en-US" sz="3400" dirty="0"/>
          </a:p>
        </p:txBody>
      </p:sp>
      <p:sp>
        <p:nvSpPr>
          <p:cNvPr id="3" name="Tarjeta 57"/>
          <p:cNvSpPr/>
          <p:nvPr/>
        </p:nvSpPr>
        <p:spPr>
          <a:xfrm>
            <a:off x="548640" y="1417320"/>
            <a:ext cx="53949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Texto 58"/>
          <p:cNvSpPr txBox="1"/>
          <p:nvPr/>
        </p:nvSpPr>
        <p:spPr>
          <a:xfrm>
            <a:off x="868680" y="1691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Modelos generalistas (ChatGPT u otros LLM)</a:t>
            </a:r>
            <a:endParaRPr lang="en-US" sz="2000" dirty="0"/>
          </a:p>
        </p:txBody>
      </p:sp>
      <p:sp>
        <p:nvSpPr>
          <p:cNvPr id="5" name="Texto 59"/>
          <p:cNvSpPr txBox="1"/>
          <p:nvPr/>
        </p:nvSpPr>
        <p:spPr>
          <a:xfrm>
            <a:off x="868680" y="25603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Sufren de alucinaciones médicas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Inventan citas o posologías</a:t>
            </a:r>
            <a:endParaRPr lang="en-US" sz="1800" dirty="0"/>
          </a:p>
        </p:txBody>
      </p:sp>
      <p:sp>
        <p:nvSpPr>
          <p:cNvPr id="6" name="Tarjeta 60"/>
          <p:cNvSpPr/>
          <p:nvPr/>
        </p:nvSpPr>
        <p:spPr>
          <a:xfrm>
            <a:off x="6245352" y="1417320"/>
            <a:ext cx="5394960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7" name="Texto 61"/>
          <p:cNvSpPr txBox="1"/>
          <p:nvPr/>
        </p:nvSpPr>
        <p:spPr>
          <a:xfrm>
            <a:off x="6565392" y="1691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Sofia</a:t>
            </a:r>
            <a:endParaRPr lang="en-US" sz="2800" dirty="0"/>
          </a:p>
        </p:txBody>
      </p:sp>
      <p:sp>
        <p:nvSpPr>
          <p:cNvPr id="8" name="Texto 62"/>
          <p:cNvSpPr txBox="1"/>
          <p:nvPr/>
        </p:nvSpPr>
        <p:spPr>
          <a:xfrm>
            <a:off x="6565392" y="25603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Sistema RAG local, privado y determinista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Sustentado en literatura médica canónica</a:t>
            </a:r>
            <a:endParaRPr lang="en-US" sz="1800" dirty="0"/>
          </a:p>
        </p:txBody>
      </p:sp>
      <p:sp>
        <p:nvSpPr>
          <p:cNvPr id="9" name="Texto 63"/>
          <p:cNvSpPr txBox="1"/>
          <p:nvPr/>
        </p:nvSpPr>
        <p:spPr>
          <a:xfrm>
            <a:off x="548640" y="4389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Literatura médica canónica en la que se sustenta</a:t>
            </a:r>
            <a:endParaRPr lang="en-US" sz="2000" dirty="0"/>
          </a:p>
        </p:txBody>
      </p:sp>
      <p:sp>
        <p:nvSpPr>
          <p:cNvPr id="10" name="Tarjeta 64"/>
          <p:cNvSpPr/>
          <p:nvPr/>
        </p:nvSpPr>
        <p:spPr>
          <a:xfrm>
            <a:off x="548640" y="493776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1" name="Texto 65"/>
          <p:cNvSpPr txBox="1"/>
          <p:nvPr/>
        </p:nvSpPr>
        <p:spPr>
          <a:xfrm>
            <a:off x="685800" y="4937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Manual de la Dra. Gabriela Jufe</a:t>
            </a:r>
            <a:endParaRPr lang="en-US" sz="1800" dirty="0"/>
          </a:p>
        </p:txBody>
      </p:sp>
      <p:sp>
        <p:nvSpPr>
          <p:cNvPr id="12" name="Tarjeta 66"/>
          <p:cNvSpPr/>
          <p:nvPr/>
        </p:nvSpPr>
        <p:spPr>
          <a:xfrm>
            <a:off x="3374136" y="493776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3" name="Texto 67"/>
          <p:cNvSpPr txBox="1"/>
          <p:nvPr/>
        </p:nvSpPr>
        <p:spPr>
          <a:xfrm>
            <a:off x="3511296" y="4937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Guías de Stephen Stahl</a:t>
            </a:r>
            <a:endParaRPr lang="en-US" sz="1800" dirty="0"/>
          </a:p>
        </p:txBody>
      </p:sp>
      <p:sp>
        <p:nvSpPr>
          <p:cNvPr id="14" name="Tarjeta 68"/>
          <p:cNvSpPr/>
          <p:nvPr/>
        </p:nvSpPr>
        <p:spPr>
          <a:xfrm>
            <a:off x="6199632" y="493776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5" name="Texto 69"/>
          <p:cNvSpPr txBox="1"/>
          <p:nvPr/>
        </p:nvSpPr>
        <p:spPr>
          <a:xfrm>
            <a:off x="6336792" y="4937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Directrices oficiales CANMAT/ISBD 2018</a:t>
            </a:r>
            <a:endParaRPr lang="en-US" sz="1800" dirty="0"/>
          </a:p>
        </p:txBody>
      </p:sp>
      <p:sp>
        <p:nvSpPr>
          <p:cNvPr id="16" name="Tarjeta 70"/>
          <p:cNvSpPr/>
          <p:nvPr/>
        </p:nvSpPr>
        <p:spPr>
          <a:xfrm>
            <a:off x="9025128" y="493776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7" name="Texto 71"/>
          <p:cNvSpPr txBox="1"/>
          <p:nvPr/>
        </p:nvSpPr>
        <p:spPr>
          <a:xfrm>
            <a:off x="9162288" y="49377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Clasificación ATC de la OMS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Dos reglas bioéticas innegociables</a:t>
            </a:r>
            <a:endParaRPr lang="en-US" sz="3400" dirty="0"/>
          </a:p>
        </p:txBody>
      </p:sp>
      <p:sp>
        <p:nvSpPr>
          <p:cNvPr id="3" name="Tarjeta 7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Círculo 73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úmero 74"/>
          <p:cNvSpPr txBox="1"/>
          <p:nvPr/>
        </p:nvSpPr>
        <p:spPr>
          <a:xfrm>
            <a:off x="86868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o 75"/>
          <p:cNvSpPr txBox="1"/>
          <p:nvPr/>
        </p:nvSpPr>
        <p:spPr>
          <a:xfrm>
            <a:off x="868680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Grounding estricto</a:t>
            </a:r>
            <a:endParaRPr lang="en-US" sz="2800" dirty="0"/>
          </a:p>
        </p:txBody>
      </p:sp>
      <p:sp>
        <p:nvSpPr>
          <p:cNvPr id="7" name="Texto 76"/>
          <p:cNvSpPr txBox="1"/>
          <p:nvPr/>
        </p:nvSpPr>
        <p:spPr>
          <a:xfrm>
            <a:off x="868680" y="37490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 trazabilidad por identificador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([DOC-ID])</a:t>
            </a:r>
            <a:endParaRPr lang="en-US" sz="2200" dirty="0"/>
          </a:p>
        </p:txBody>
      </p:sp>
      <p:sp>
        <p:nvSpPr>
          <p:cNvPr id="8" name="Tarjeta 77"/>
          <p:cNvSpPr/>
          <p:nvPr/>
        </p:nvSpPr>
        <p:spPr>
          <a:xfrm>
            <a:off x="6245352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9" name="Círculo 78"/>
          <p:cNvSpPr/>
          <p:nvPr/>
        </p:nvSpPr>
        <p:spPr>
          <a:xfrm>
            <a:off x="6565392" y="1783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úmero 79"/>
          <p:cNvSpPr txBox="1"/>
          <p:nvPr/>
        </p:nvSpPr>
        <p:spPr>
          <a:xfrm>
            <a:off x="6565392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2</a:t>
            </a:r>
            <a:endParaRPr lang="en-US" sz="2700" dirty="0"/>
          </a:p>
        </p:txBody>
      </p:sp>
      <p:sp>
        <p:nvSpPr>
          <p:cNvPr id="11" name="Texto 80"/>
          <p:cNvSpPr txBox="1"/>
          <p:nvPr/>
        </p:nvSpPr>
        <p:spPr>
          <a:xfrm>
            <a:off x="6565392" y="2926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Soporte dual</a:t>
            </a:r>
            <a:endParaRPr lang="en-US" sz="2800" dirty="0"/>
          </a:p>
        </p:txBody>
      </p:sp>
      <p:sp>
        <p:nvSpPr>
          <p:cNvPr id="12" name="Texto 81"/>
          <p:cNvSpPr txBox="1"/>
          <p:nvPr/>
        </p:nvSpPr>
        <p:spPr>
          <a:xfrm>
            <a:off x="6565392" y="37490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Informes escritos estructurados en 4 secciones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Resúmenes ejecutivos verbalizables en menos de 40 segundos para asistentes de voz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Interfaz en Streamlit: cuatro pestañas</a:t>
            </a:r>
            <a:endParaRPr lang="en-US" sz="3400" dirty="0"/>
          </a:p>
        </p:txBody>
      </p:sp>
      <p:sp>
        <p:nvSpPr>
          <p:cNvPr id="3" name="Texto 82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Diseñada para ser inmediatamente útil en la consulta médica o en la guardia hospitalaria</a:t>
            </a:r>
            <a:endParaRPr lang="en-US" sz="1800" dirty="0"/>
          </a:p>
        </p:txBody>
      </p:sp>
      <p:sp>
        <p:nvSpPr>
          <p:cNvPr id="4" name="Tarjeta 83"/>
          <p:cNvSpPr/>
          <p:nvPr/>
        </p:nvSpPr>
        <p:spPr>
          <a:xfrm>
            <a:off x="548640" y="205740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5" name="Círculo 84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úmero 85"/>
          <p:cNvSpPr txBox="1"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</a:t>
            </a:r>
            <a:endParaRPr lang="en-US" sz="2100" dirty="0"/>
          </a:p>
        </p:txBody>
      </p:sp>
      <p:sp>
        <p:nvSpPr>
          <p:cNvPr id="7" name="Texto 86"/>
          <p:cNvSpPr txBox="1"/>
          <p:nvPr/>
        </p:nvSpPr>
        <p:spPr>
          <a:xfrm>
            <a:off x="1737360" y="22402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Asistente RAG Clínico</a:t>
            </a:r>
            <a:endParaRPr lang="en-US" sz="2000" dirty="0"/>
          </a:p>
        </p:txBody>
      </p:sp>
      <p:sp>
        <p:nvSpPr>
          <p:cNvPr id="8" name="Texto 87"/>
          <p:cNvSpPr txBox="1"/>
          <p:nvPr/>
        </p:nvSpPr>
        <p:spPr>
          <a:xfrm>
            <a:off x="1737360" y="3017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Consultas clínicas en lenguaje natural o botones de prueba rápida</a:t>
            </a:r>
            <a:endParaRPr lang="en-US" sz="1600" dirty="0"/>
          </a:p>
        </p:txBody>
      </p:sp>
      <p:sp>
        <p:nvSpPr>
          <p:cNvPr id="9" name="Tarjeta 88"/>
          <p:cNvSpPr/>
          <p:nvPr/>
        </p:nvSpPr>
        <p:spPr>
          <a:xfrm>
            <a:off x="6245352" y="205740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0" name="Círculo 89"/>
          <p:cNvSpPr/>
          <p:nvPr/>
        </p:nvSpPr>
        <p:spPr>
          <a:xfrm>
            <a:off x="6519672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úmero 90"/>
          <p:cNvSpPr txBox="1"/>
          <p:nvPr/>
        </p:nvSpPr>
        <p:spPr>
          <a:xfrm>
            <a:off x="651967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o 91"/>
          <p:cNvSpPr txBox="1"/>
          <p:nvPr/>
        </p:nvSpPr>
        <p:spPr>
          <a:xfrm>
            <a:off x="7434072" y="22402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Matriz Interactiva CYP450</a:t>
            </a:r>
            <a:endParaRPr lang="en-US" sz="2000" dirty="0"/>
          </a:p>
        </p:txBody>
      </p:sp>
      <p:sp>
        <p:nvSpPr>
          <p:cNvPr id="13" name="Texto 92"/>
          <p:cNvSpPr txBox="1"/>
          <p:nvPr/>
        </p:nvSpPr>
        <p:spPr>
          <a:xfrm>
            <a:off x="7434072" y="3017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Selector múltiple de psicofármacos con semáforo de riesgo en tiempo real</a:t>
            </a:r>
            <a:endParaRPr lang="en-US" sz="1600" dirty="0"/>
          </a:p>
        </p:txBody>
      </p:sp>
      <p:sp>
        <p:nvSpPr>
          <p:cNvPr id="14" name="Tarjeta 93"/>
          <p:cNvSpPr/>
          <p:nvPr/>
        </p:nvSpPr>
        <p:spPr>
          <a:xfrm>
            <a:off x="548640" y="411480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5" name="Círculo 94"/>
          <p:cNvSpPr/>
          <p:nvPr/>
        </p:nvSpPr>
        <p:spPr>
          <a:xfrm>
            <a:off x="822960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úmero 95"/>
          <p:cNvSpPr txBox="1"/>
          <p:nvPr/>
        </p:nvSpPr>
        <p:spPr>
          <a:xfrm>
            <a:off x="82296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3</a:t>
            </a:r>
            <a:endParaRPr lang="en-US" sz="2100" dirty="0"/>
          </a:p>
        </p:txBody>
      </p:sp>
      <p:sp>
        <p:nvSpPr>
          <p:cNvPr id="17" name="Texto 96"/>
          <p:cNvSpPr txBox="1"/>
          <p:nvPr/>
        </p:nvSpPr>
        <p:spPr>
          <a:xfrm>
            <a:off x="1737360" y="42976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Detector Heurístico de Cascadas de Prescripción</a:t>
            </a:r>
            <a:endParaRPr lang="en-US" sz="2000" dirty="0"/>
          </a:p>
        </p:txBody>
      </p:sp>
      <p:sp>
        <p:nvSpPr>
          <p:cNvPr id="18" name="Texto 97"/>
          <p:cNvSpPr txBox="1"/>
          <p:nvPr/>
        </p:nvSpPr>
        <p:spPr>
          <a:xfrm>
            <a:off x="1737360" y="5074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Fármaco primario y síntoma nuevo: el sistema detecta la cascada</a:t>
            </a:r>
            <a:endParaRPr lang="en-US" sz="1600" dirty="0"/>
          </a:p>
        </p:txBody>
      </p:sp>
      <p:sp>
        <p:nvSpPr>
          <p:cNvPr id="19" name="Tarjeta 98"/>
          <p:cNvSpPr/>
          <p:nvPr/>
        </p:nvSpPr>
        <p:spPr>
          <a:xfrm>
            <a:off x="6245352" y="4114800"/>
            <a:ext cx="53949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0" name="Círculo 99"/>
          <p:cNvSpPr/>
          <p:nvPr/>
        </p:nvSpPr>
        <p:spPr>
          <a:xfrm>
            <a:off x="6519672" y="4434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úmero 100"/>
          <p:cNvSpPr txBox="1"/>
          <p:nvPr/>
        </p:nvSpPr>
        <p:spPr>
          <a:xfrm>
            <a:off x="6519672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4</a:t>
            </a:r>
            <a:endParaRPr lang="en-US" sz="2100" dirty="0"/>
          </a:p>
        </p:txBody>
      </p:sp>
      <p:sp>
        <p:nvSpPr>
          <p:cNvPr id="22" name="Texto 101"/>
          <p:cNvSpPr txBox="1"/>
          <p:nvPr/>
        </p:nvSpPr>
        <p:spPr>
          <a:xfrm>
            <a:off x="7434072" y="42976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Guías CANMAT y Catálogo ATC</a:t>
            </a:r>
            <a:endParaRPr lang="en-US" sz="2000" dirty="0"/>
          </a:p>
        </p:txBody>
      </p:sp>
      <p:sp>
        <p:nvSpPr>
          <p:cNvPr id="23" name="Texto 102"/>
          <p:cNvSpPr txBox="1"/>
          <p:nvPr/>
        </p:nvSpPr>
        <p:spPr>
          <a:xfrm>
            <a:off x="7434072" y="5074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Algoritmos CANMAT 2018 filtrables y buscador del catálogo de la OMS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Pestaña 1: Asistente RAG Clínico</a:t>
            </a:r>
            <a:endParaRPr lang="en-US" sz="3400" dirty="0"/>
          </a:p>
        </p:txBody>
      </p:sp>
      <p:sp>
        <p:nvSpPr>
          <p:cNvPr id="3" name="Texto 103"/>
          <p:cNvSpPr txBox="1"/>
          <p:nvPr/>
        </p:nvSpPr>
        <p:spPr>
          <a:xfrm>
            <a:off x="548640" y="13716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médico escribe consultas clínicas en lenguaje natural o presiona botones de prueba rápida: ‘Sertralina’, ‘Paroxetina + Bupropión (CYP2D6)’, ‘CANMAT Manía’.</a:t>
            </a:r>
            <a:endParaRPr lang="en-US" sz="1600" dirty="0"/>
          </a:p>
        </p:txBody>
      </p:sp>
      <p:sp>
        <p:nvSpPr>
          <p:cNvPr id="4" name="Texto 104"/>
          <p:cNvSpPr txBox="1"/>
          <p:nvPr/>
        </p:nvSpPr>
        <p:spPr>
          <a:xfrm>
            <a:off x="548640" y="2194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Una respuesta en 4 apartados numerados:</a:t>
            </a:r>
            <a:endParaRPr lang="en-US" sz="1800" dirty="0"/>
          </a:p>
        </p:txBody>
      </p:sp>
      <p:sp>
        <p:nvSpPr>
          <p:cNvPr id="5" name="Tarjeta 105"/>
          <p:cNvSpPr/>
          <p:nvPr/>
        </p:nvSpPr>
        <p:spPr>
          <a:xfrm>
            <a:off x="548640" y="2743200"/>
            <a:ext cx="58521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6" name="Círculo 106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úmero 107"/>
          <p:cNvSpPr txBox="1"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o 108"/>
          <p:cNvSpPr txBox="1"/>
          <p:nvPr/>
        </p:nvSpPr>
        <p:spPr>
          <a:xfrm>
            <a:off x="1371600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Juicio Clínico Inmediato</a:t>
            </a:r>
            <a:endParaRPr lang="en-US" sz="1800" dirty="0"/>
          </a:p>
        </p:txBody>
      </p:sp>
      <p:sp>
        <p:nvSpPr>
          <p:cNvPr id="9" name="Tarjeta 109"/>
          <p:cNvSpPr/>
          <p:nvPr/>
        </p:nvSpPr>
        <p:spPr>
          <a:xfrm>
            <a:off x="548640" y="3611880"/>
            <a:ext cx="58521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0" name="Círculo 110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úmero 111"/>
          <p:cNvSpPr txBox="1"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o 112"/>
          <p:cNvSpPr txBox="1"/>
          <p:nvPr/>
        </p:nvSpPr>
        <p:spPr>
          <a:xfrm>
            <a:off x="1371600" y="3611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Mecanismo Farmacológico y Cinética</a:t>
            </a:r>
            <a:endParaRPr lang="en-US" sz="1800" dirty="0"/>
          </a:p>
        </p:txBody>
      </p:sp>
      <p:sp>
        <p:nvSpPr>
          <p:cNvPr id="13" name="Tarjeta 113"/>
          <p:cNvSpPr/>
          <p:nvPr/>
        </p:nvSpPr>
        <p:spPr>
          <a:xfrm>
            <a:off x="548640" y="4480560"/>
            <a:ext cx="58521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4" name="Círculo 114"/>
          <p:cNvSpPr/>
          <p:nvPr/>
        </p:nvSpPr>
        <p:spPr>
          <a:xfrm>
            <a:off x="731520" y="4617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úmero 115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o 116"/>
          <p:cNvSpPr txBox="1"/>
          <p:nvPr/>
        </p:nvSpPr>
        <p:spPr>
          <a:xfrm>
            <a:off x="1371600" y="4480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Pauta Operativa y Recomendaciones</a:t>
            </a:r>
            <a:endParaRPr lang="en-US" sz="1800" dirty="0"/>
          </a:p>
        </p:txBody>
      </p:sp>
      <p:sp>
        <p:nvSpPr>
          <p:cNvPr id="17" name="Tarjeta 117"/>
          <p:cNvSpPr/>
          <p:nvPr/>
        </p:nvSpPr>
        <p:spPr>
          <a:xfrm>
            <a:off x="548640" y="5349240"/>
            <a:ext cx="58521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18" name="Círculo 118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úmero 119"/>
          <p:cNvSpPr txBox="1"/>
          <p:nvPr/>
        </p:nvSpPr>
        <p:spPr>
          <a:xfrm>
            <a:off x="73152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o 120"/>
          <p:cNvSpPr txBox="1"/>
          <p:nvPr/>
        </p:nvSpPr>
        <p:spPr>
          <a:xfrm>
            <a:off x="1371600" y="5349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Alertas de Seguridad y Trazabilidad Comercial</a:t>
            </a:r>
            <a:endParaRPr lang="en-US" sz="1800" dirty="0"/>
          </a:p>
        </p:txBody>
      </p:sp>
      <p:sp>
        <p:nvSpPr>
          <p:cNvPr id="21" name="Tarjeta 121"/>
          <p:cNvSpPr/>
          <p:nvPr/>
        </p:nvSpPr>
        <p:spPr>
          <a:xfrm>
            <a:off x="6702552" y="2194560"/>
            <a:ext cx="4937760" cy="1874520"/>
          </a:xfrm>
          <a:prstGeom prst="roundRect">
            <a:avLst>
              <a:gd name="adj" fmla="val 5854"/>
            </a:avLst>
          </a:prstGeom>
          <a:solidFill>
            <a:schemeClr val="accent5"/>
          </a:solidFill>
          <a:ln/>
        </p:spPr>
      </p:sp>
      <p:sp>
        <p:nvSpPr>
          <p:cNvPr id="22" name="Texto 122"/>
          <p:cNvSpPr txBox="1"/>
          <p:nvPr/>
        </p:nvSpPr>
        <p:spPr>
          <a:xfrm>
            <a:off x="6995160" y="2377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Voice Snippet (&lt; 40 s)</a:t>
            </a:r>
            <a:endParaRPr lang="en-US" sz="2000" dirty="0"/>
          </a:p>
        </p:txBody>
      </p:sp>
      <p:sp>
        <p:nvSpPr>
          <p:cNvPr id="23" name="Texto 123"/>
          <p:cNvSpPr txBox="1"/>
          <p:nvPr/>
        </p:nvSpPr>
        <p:spPr>
          <a:xfrm>
            <a:off x="6995160" y="29260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Tarjeta destacada en verde que sintetiza la conducta médica en un lenguaje fluido para ser reproducido por voz.</a:t>
            </a:r>
            <a:endParaRPr lang="en-US" sz="1600" dirty="0"/>
          </a:p>
        </p:txBody>
      </p:sp>
      <p:sp>
        <p:nvSpPr>
          <p:cNvPr id="24" name="Tarjeta 124"/>
          <p:cNvSpPr/>
          <p:nvPr/>
        </p:nvSpPr>
        <p:spPr>
          <a:xfrm>
            <a:off x="6702552" y="4251960"/>
            <a:ext cx="49377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5" name="Texto 125"/>
          <p:cNvSpPr txBox="1"/>
          <p:nvPr/>
        </p:nvSpPr>
        <p:spPr>
          <a:xfrm>
            <a:off x="6995160" y="4389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Fuentes Clínicas Recuperadas (desplegable)</a:t>
            </a:r>
            <a:endParaRPr lang="en-US" sz="1600" dirty="0"/>
          </a:p>
        </p:txBody>
      </p:sp>
      <p:sp>
        <p:nvSpPr>
          <p:cNvPr id="26" name="Texto 126"/>
          <p:cNvSpPr txBox="1"/>
          <p:nvPr/>
        </p:nvSpPr>
        <p:spPr>
          <a:xfrm>
            <a:off x="6995160" y="484632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Código de citación [DOC-ID]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Código ATC oficial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 numérico de similitud coseno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Ruta del archivo fuente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Pestaña 2: Matriz Interactiva CYP450</a:t>
            </a:r>
            <a:endParaRPr lang="en-US" sz="3400" dirty="0"/>
          </a:p>
        </p:txBody>
      </p:sp>
      <p:sp>
        <p:nvSpPr>
          <p:cNvPr id="3" name="Texto 127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Permite seleccionar en un selector múltiple los psicofármacos del paciente (por ejemplo, Paroxetina y Risperidona). En tiempo real, el sistema activa un semáforo de riesgo:</a:t>
            </a:r>
            <a:endParaRPr lang="en-US" sz="1800" dirty="0"/>
          </a:p>
        </p:txBody>
      </p:sp>
      <p:sp>
        <p:nvSpPr>
          <p:cNvPr id="4" name="Tarjeta 128"/>
          <p:cNvSpPr/>
          <p:nvPr/>
        </p:nvSpPr>
        <p:spPr>
          <a:xfrm>
            <a:off x="548640" y="228600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Círculo 129"/>
          <p:cNvSpPr/>
          <p:nvPr/>
        </p:nvSpPr>
        <p:spPr>
          <a:xfrm>
            <a:off x="822960" y="25603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Número 130"/>
          <p:cNvSpPr txBox="1"/>
          <p:nvPr/>
        </p:nvSpPr>
        <p:spPr>
          <a:xfrm>
            <a:off x="82296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7" name="Texto 131"/>
          <p:cNvSpPr txBox="1"/>
          <p:nvPr/>
        </p:nvSpPr>
        <p:spPr>
          <a:xfrm>
            <a:off x="822960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Rojo Crítico</a:t>
            </a:r>
            <a:endParaRPr lang="en-US" sz="2200" dirty="0"/>
          </a:p>
        </p:txBody>
      </p:sp>
      <p:sp>
        <p:nvSpPr>
          <p:cNvPr id="8" name="Texto 132"/>
          <p:cNvSpPr txBox="1"/>
          <p:nvPr/>
        </p:nvSpPr>
        <p:spPr>
          <a:xfrm>
            <a:off x="822960" y="40690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 cruza un inhibidor potente de CYP2D6 con un sustrato estrecho, advierte el riesgo de síntomas extrapiramidales y propone reducir la dosis un 50% o rotar a sertralina o escitalopram.</a:t>
            </a:r>
            <a:endParaRPr lang="en-US" sz="1600" dirty="0"/>
          </a:p>
        </p:txBody>
      </p:sp>
      <p:sp>
        <p:nvSpPr>
          <p:cNvPr id="9" name="Tarjeta 133"/>
          <p:cNvSpPr/>
          <p:nvPr/>
        </p:nvSpPr>
        <p:spPr>
          <a:xfrm>
            <a:off x="4311396" y="228600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0" name="Círculo 134"/>
          <p:cNvSpPr/>
          <p:nvPr/>
        </p:nvSpPr>
        <p:spPr>
          <a:xfrm>
            <a:off x="4585716" y="256032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Número 135"/>
          <p:cNvSpPr txBox="1"/>
          <p:nvPr/>
        </p:nvSpPr>
        <p:spPr>
          <a:xfrm>
            <a:off x="4585716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2" name="Texto 136"/>
          <p:cNvSpPr txBox="1"/>
          <p:nvPr/>
        </p:nvSpPr>
        <p:spPr>
          <a:xfrm>
            <a:off x="4585716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Amarillo de Advertencia</a:t>
            </a:r>
            <a:endParaRPr lang="en-US" sz="2200" dirty="0"/>
          </a:p>
        </p:txBody>
      </p:sp>
      <p:sp>
        <p:nvSpPr>
          <p:cNvPr id="13" name="Texto 137"/>
          <p:cNvSpPr txBox="1"/>
          <p:nvPr/>
        </p:nvSpPr>
        <p:spPr>
          <a:xfrm>
            <a:off x="4585716" y="40690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Para casos como la clozapina (metabolizada por CYP1A2 y el impacto crítico del tabaco), o el litio (eliminación puramente renal, alertando sobre el riesgo mortal de coadministrarlo con AINEs o tiazidas).</a:t>
            </a:r>
            <a:endParaRPr lang="en-US" sz="1600" dirty="0"/>
          </a:p>
        </p:txBody>
      </p:sp>
      <p:sp>
        <p:nvSpPr>
          <p:cNvPr id="14" name="Tarjeta 138"/>
          <p:cNvSpPr/>
          <p:nvPr/>
        </p:nvSpPr>
        <p:spPr>
          <a:xfrm>
            <a:off x="8074152" y="228600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5" name="Círculo 139"/>
          <p:cNvSpPr/>
          <p:nvPr/>
        </p:nvSpPr>
        <p:spPr>
          <a:xfrm>
            <a:off x="8348472" y="25603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6" name="Número 140"/>
          <p:cNvSpPr txBox="1"/>
          <p:nvPr/>
        </p:nvSpPr>
        <p:spPr>
          <a:xfrm>
            <a:off x="8348472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7" name="Texto 141"/>
          <p:cNvSpPr txBox="1"/>
          <p:nvPr/>
        </p:nvSpPr>
        <p:spPr>
          <a:xfrm>
            <a:off x="8348472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Verde Seguro</a:t>
            </a:r>
            <a:endParaRPr lang="en-US" sz="2200" dirty="0"/>
          </a:p>
        </p:txBody>
      </p:sp>
      <p:sp>
        <p:nvSpPr>
          <p:cNvPr id="18" name="Texto 142"/>
          <p:cNvSpPr txBox="1"/>
          <p:nvPr/>
        </p:nvSpPr>
        <p:spPr>
          <a:xfrm>
            <a:off x="8348472" y="40690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Cuando la combinación carece de incompatibilidades enzimáticas mayores.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Pestaña 3: Cascadas de Prescripción</a:t>
            </a:r>
            <a:endParaRPr lang="en-US" sz="3400" dirty="0"/>
          </a:p>
        </p:txBody>
      </p:sp>
      <p:sp>
        <p:nvSpPr>
          <p:cNvPr id="3" name="Tarjeta 143"/>
          <p:cNvSpPr/>
          <p:nvPr/>
        </p:nvSpPr>
        <p:spPr>
          <a:xfrm>
            <a:off x="548640" y="1463040"/>
            <a:ext cx="338328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4" name="Texto 144"/>
          <p:cNvSpPr txBox="1"/>
          <p:nvPr/>
        </p:nvSpPr>
        <p:spPr>
          <a:xfrm>
            <a:off x="640080" y="1463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Fármaco primario: Haloperidol</a:t>
            </a:r>
            <a:endParaRPr lang="en-US" sz="1800" dirty="0"/>
          </a:p>
        </p:txBody>
      </p:sp>
      <p:sp>
        <p:nvSpPr>
          <p:cNvPr id="5" name="Texto 145"/>
          <p:cNvSpPr txBox="1"/>
          <p:nvPr/>
        </p:nvSpPr>
        <p:spPr>
          <a:xfrm>
            <a:off x="4023360" y="146304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+</a:t>
            </a:r>
            <a:endParaRPr lang="en-US" sz="3200" dirty="0"/>
          </a:p>
        </p:txBody>
      </p:sp>
      <p:sp>
        <p:nvSpPr>
          <p:cNvPr id="6" name="Tarjeta 146"/>
          <p:cNvSpPr/>
          <p:nvPr/>
        </p:nvSpPr>
        <p:spPr>
          <a:xfrm>
            <a:off x="4480560" y="1463040"/>
            <a:ext cx="338328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7" name="Texto 147"/>
          <p:cNvSpPr txBox="1"/>
          <p:nvPr/>
        </p:nvSpPr>
        <p:spPr>
          <a:xfrm>
            <a:off x="4572000" y="1463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Síntoma nuevo: Rigidez/Temblor</a:t>
            </a:r>
            <a:endParaRPr lang="en-US" sz="1800" dirty="0"/>
          </a:p>
        </p:txBody>
      </p:sp>
      <p:sp>
        <p:nvSpPr>
          <p:cNvPr id="8" name="Flecha 148"/>
          <p:cNvSpPr/>
          <p:nvPr/>
        </p:nvSpPr>
        <p:spPr>
          <a:xfrm>
            <a:off x="8046720" y="1691640"/>
            <a:ext cx="640080" cy="36576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9" name="Tarjeta 149"/>
          <p:cNvSpPr/>
          <p:nvPr/>
        </p:nvSpPr>
        <p:spPr>
          <a:xfrm>
            <a:off x="8869680" y="1463040"/>
            <a:ext cx="173736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0" name="Texto 150"/>
          <p:cNvSpPr txBox="1"/>
          <p:nvPr/>
        </p:nvSpPr>
        <p:spPr>
          <a:xfrm>
            <a:off x="8961120" y="1463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Evaluar</a:t>
            </a:r>
            <a:endParaRPr lang="en-US" sz="1800" dirty="0"/>
          </a:p>
        </p:txBody>
      </p:sp>
      <p:sp>
        <p:nvSpPr>
          <p:cNvPr id="11" name="Tarjeta 151"/>
          <p:cNvSpPr/>
          <p:nvPr/>
        </p:nvSpPr>
        <p:spPr>
          <a:xfrm>
            <a:off x="548640" y="260604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/>
        </p:spPr>
      </p:sp>
      <p:sp>
        <p:nvSpPr>
          <p:cNvPr id="12" name="Texto 152"/>
          <p:cNvSpPr txBox="1"/>
          <p:nvPr/>
        </p:nvSpPr>
        <p:spPr>
          <a:xfrm>
            <a:off x="82296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Alerta roja: el sistema detecta la cascada y advierte sobre el peligro de prescribir biperideno</a:t>
            </a:r>
            <a:endParaRPr lang="en-US" sz="2000" dirty="0"/>
          </a:p>
        </p:txBody>
      </p:sp>
      <p:sp>
        <p:nvSpPr>
          <p:cNvPr id="13" name="Texto 153"/>
          <p:cNvSpPr txBox="1"/>
          <p:nvPr/>
        </p:nvSpPr>
        <p:spPr>
          <a:xfrm>
            <a:off x="548640" y="3931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Protocolo de Desprescripción Sofia</a:t>
            </a:r>
            <a:endParaRPr lang="en-US" sz="2200" dirty="0"/>
          </a:p>
        </p:txBody>
      </p:sp>
      <p:sp>
        <p:nvSpPr>
          <p:cNvPr id="14" name="Tarjeta 154"/>
          <p:cNvSpPr/>
          <p:nvPr/>
        </p:nvSpPr>
        <p:spPr>
          <a:xfrm>
            <a:off x="548640" y="45262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5" name="Círculo 155"/>
          <p:cNvSpPr/>
          <p:nvPr/>
        </p:nvSpPr>
        <p:spPr>
          <a:xfrm>
            <a:off x="777240" y="4754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úmero 156"/>
          <p:cNvSpPr txBox="1"/>
          <p:nvPr/>
        </p:nvSpPr>
        <p:spPr>
          <a:xfrm>
            <a:off x="77724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o 157"/>
          <p:cNvSpPr txBox="1"/>
          <p:nvPr/>
        </p:nvSpPr>
        <p:spPr>
          <a:xfrm>
            <a:off x="1508760" y="457200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Reducir dosis</a:t>
            </a:r>
            <a:endParaRPr lang="en-US" sz="1600" dirty="0"/>
          </a:p>
        </p:txBody>
      </p:sp>
      <p:sp>
        <p:nvSpPr>
          <p:cNvPr id="18" name="Tarjeta 158"/>
          <p:cNvSpPr/>
          <p:nvPr/>
        </p:nvSpPr>
        <p:spPr>
          <a:xfrm>
            <a:off x="4311396" y="45262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9" name="Círculo 159"/>
          <p:cNvSpPr/>
          <p:nvPr/>
        </p:nvSpPr>
        <p:spPr>
          <a:xfrm>
            <a:off x="4539996" y="4754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Número 160"/>
          <p:cNvSpPr txBox="1"/>
          <p:nvPr/>
        </p:nvSpPr>
        <p:spPr>
          <a:xfrm>
            <a:off x="4539996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o 161"/>
          <p:cNvSpPr txBox="1"/>
          <p:nvPr/>
        </p:nvSpPr>
        <p:spPr>
          <a:xfrm>
            <a:off x="5271516" y="457200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Rotar a un antipsicótico atípico</a:t>
            </a:r>
            <a:endParaRPr lang="en-US" sz="1600" dirty="0"/>
          </a:p>
        </p:txBody>
      </p:sp>
      <p:sp>
        <p:nvSpPr>
          <p:cNvPr id="22" name="Tarjeta 162"/>
          <p:cNvSpPr/>
          <p:nvPr/>
        </p:nvSpPr>
        <p:spPr>
          <a:xfrm>
            <a:off x="8074152" y="45262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3" name="Círculo 163"/>
          <p:cNvSpPr/>
          <p:nvPr/>
        </p:nvSpPr>
        <p:spPr>
          <a:xfrm>
            <a:off x="8302752" y="4754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Número 164"/>
          <p:cNvSpPr txBox="1"/>
          <p:nvPr/>
        </p:nvSpPr>
        <p:spPr>
          <a:xfrm>
            <a:off x="8302752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o 165"/>
          <p:cNvSpPr txBox="1"/>
          <p:nvPr/>
        </p:nvSpPr>
        <p:spPr>
          <a:xfrm>
            <a:off x="9034272" y="457200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Desescalar el anticolinérgico en 2 a 4 semanas para evitar rebote colinérgico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Pestaña 4: Guías CANMAT y Catálogo ATC</a:t>
            </a:r>
            <a:endParaRPr lang="en-US" sz="3400" dirty="0"/>
          </a:p>
        </p:txBody>
      </p:sp>
      <p:sp>
        <p:nvSpPr>
          <p:cNvPr id="3" name="Tarjeta 166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Texto 167"/>
          <p:cNvSpPr txBox="1"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Guías CANMAT 2018</a:t>
            </a:r>
            <a:endParaRPr lang="en-US" sz="2400" dirty="0"/>
          </a:p>
        </p:txBody>
      </p:sp>
      <p:sp>
        <p:nvSpPr>
          <p:cNvPr id="5" name="Texto 168"/>
          <p:cNvSpPr txBox="1"/>
          <p:nvPr/>
        </p:nvSpPr>
        <p:spPr>
          <a:xfrm>
            <a:off x="86868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Filtra los algoritmos oficiales para:</a:t>
            </a:r>
            <a:endParaRPr lang="en-US" sz="1600" dirty="0"/>
          </a:p>
        </p:txBody>
      </p:sp>
      <p:sp>
        <p:nvSpPr>
          <p:cNvPr id="6" name="Texto 169"/>
          <p:cNvSpPr txBox="1"/>
          <p:nvPr/>
        </p:nvSpPr>
        <p:spPr>
          <a:xfrm>
            <a:off x="86868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Trastorno Depresivo Mayor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Trastorno Bipolar</a:t>
            </a:r>
            <a:endParaRPr lang="en-US" sz="1800" dirty="0"/>
          </a:p>
        </p:txBody>
      </p:sp>
      <p:sp>
        <p:nvSpPr>
          <p:cNvPr id="7" name="Texto 170"/>
          <p:cNvSpPr txBox="1"/>
          <p:nvPr/>
        </p:nvSpPr>
        <p:spPr>
          <a:xfrm>
            <a:off x="86868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línea de tratamiento:</a:t>
            </a:r>
            <a:endParaRPr lang="en-US" sz="1600" dirty="0"/>
          </a:p>
        </p:txBody>
      </p:sp>
      <p:sp>
        <p:nvSpPr>
          <p:cNvPr id="8" name="Tarjeta 171"/>
          <p:cNvSpPr/>
          <p:nvPr/>
        </p:nvSpPr>
        <p:spPr>
          <a:xfrm>
            <a:off x="868680" y="4343400"/>
            <a:ext cx="150876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9" name="Texto 172"/>
          <p:cNvSpPr txBox="1"/>
          <p:nvPr/>
        </p:nvSpPr>
        <p:spPr>
          <a:xfrm>
            <a:off x="914400" y="4343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Primera línea</a:t>
            </a:r>
            <a:endParaRPr lang="en-US" sz="1400" dirty="0"/>
          </a:p>
        </p:txBody>
      </p:sp>
      <p:sp>
        <p:nvSpPr>
          <p:cNvPr id="10" name="Tarjeta 173"/>
          <p:cNvSpPr/>
          <p:nvPr/>
        </p:nvSpPr>
        <p:spPr>
          <a:xfrm>
            <a:off x="2514600" y="4343400"/>
            <a:ext cx="150876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1" name="Texto 174"/>
          <p:cNvSpPr txBox="1"/>
          <p:nvPr/>
        </p:nvSpPr>
        <p:spPr>
          <a:xfrm>
            <a:off x="2560320" y="4343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Segunda línea</a:t>
            </a:r>
            <a:endParaRPr lang="en-US" sz="1400" dirty="0"/>
          </a:p>
        </p:txBody>
      </p:sp>
      <p:sp>
        <p:nvSpPr>
          <p:cNvPr id="12" name="Tarjeta 175"/>
          <p:cNvSpPr/>
          <p:nvPr/>
        </p:nvSpPr>
        <p:spPr>
          <a:xfrm>
            <a:off x="4160520" y="4343400"/>
            <a:ext cx="150876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3" name="Texto 176"/>
          <p:cNvSpPr txBox="1"/>
          <p:nvPr/>
        </p:nvSpPr>
        <p:spPr>
          <a:xfrm>
            <a:off x="4206240" y="43434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Contraindicado</a:t>
            </a:r>
            <a:endParaRPr lang="en-US" sz="1400" dirty="0"/>
          </a:p>
        </p:txBody>
      </p:sp>
      <p:sp>
        <p:nvSpPr>
          <p:cNvPr id="14" name="Tarjeta 177"/>
          <p:cNvSpPr/>
          <p:nvPr/>
        </p:nvSpPr>
        <p:spPr>
          <a:xfrm>
            <a:off x="6245352" y="146304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15" name="Texto 178"/>
          <p:cNvSpPr txBox="1"/>
          <p:nvPr/>
        </p:nvSpPr>
        <p:spPr>
          <a:xfrm>
            <a:off x="6565392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Catálogo ATC de la OMS</a:t>
            </a:r>
            <a:endParaRPr lang="en-US" sz="2400" dirty="0"/>
          </a:p>
        </p:txBody>
      </p:sp>
      <p:sp>
        <p:nvSpPr>
          <p:cNvPr id="16" name="Texto 179"/>
          <p:cNvSpPr txBox="1"/>
          <p:nvPr/>
        </p:nvSpPr>
        <p:spPr>
          <a:xfrm>
            <a:off x="6565392" y="2331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 buscador conecta con el catálogo para mostrar:</a:t>
            </a:r>
            <a:endParaRPr lang="en-US" sz="1600" dirty="0"/>
          </a:p>
        </p:txBody>
      </p:sp>
      <p:sp>
        <p:nvSpPr>
          <p:cNvPr id="17" name="Texto 180"/>
          <p:cNvSpPr txBox="1"/>
          <p:nvPr/>
        </p:nvSpPr>
        <p:spPr>
          <a:xfrm>
            <a:off x="6565392" y="310896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Código ATC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Familia farmacológica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Marcas comerciales registradas (Zoloft, Prozac, Haldol, Leponex, etc.)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Ingeniería de Sofia: 4 capas</a:t>
            </a:r>
            <a:endParaRPr lang="en-US" sz="3400" dirty="0"/>
          </a:p>
        </p:txBody>
      </p:sp>
      <p:sp>
        <p:nvSpPr>
          <p:cNvPr id="3" name="Texto 181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Todo el sistema fue construido en Python 3 modular, bajo una estricta política de rutas relativas para garantizar total portabilidad.</a:t>
            </a:r>
            <a:endParaRPr lang="en-US" sz="1800" dirty="0"/>
          </a:p>
        </p:txBody>
      </p:sp>
      <p:sp>
        <p:nvSpPr>
          <p:cNvPr id="4" name="Tarjeta 182"/>
          <p:cNvSpPr/>
          <p:nvPr/>
        </p:nvSpPr>
        <p:spPr>
          <a:xfrm>
            <a:off x="548640" y="228600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5" name="Círculo 183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úmero 184"/>
          <p:cNvSpPr txBox="1"/>
          <p:nvPr/>
        </p:nvSpPr>
        <p:spPr>
          <a:xfrm>
            <a:off x="822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</a:t>
            </a:r>
            <a:endParaRPr lang="en-US" sz="2100" dirty="0"/>
          </a:p>
        </p:txBody>
      </p:sp>
      <p:sp>
        <p:nvSpPr>
          <p:cNvPr id="7" name="Texto 185"/>
          <p:cNvSpPr txBox="1"/>
          <p:nvPr/>
        </p:nvSpPr>
        <p:spPr>
          <a:xfrm>
            <a:off x="822960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Extracción y Enriquecimiento</a:t>
            </a:r>
            <a:endParaRPr lang="en-US" sz="2000" dirty="0"/>
          </a:p>
        </p:txBody>
      </p:sp>
      <p:sp>
        <p:nvSpPr>
          <p:cNvPr id="8" name="Texto 186"/>
          <p:cNvSpPr txBox="1"/>
          <p:nvPr/>
        </p:nvSpPr>
        <p:spPr>
          <a:xfrm>
            <a:off x="822960" y="4937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400" dirty="0"/>
          </a:p>
        </p:txBody>
      </p:sp>
      <p:sp>
        <p:nvSpPr>
          <p:cNvPr id="9" name="Tarjeta 187"/>
          <p:cNvSpPr/>
          <p:nvPr/>
        </p:nvSpPr>
        <p:spPr>
          <a:xfrm>
            <a:off x="3374136" y="228600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Círculo 188"/>
          <p:cNvSpPr/>
          <p:nvPr/>
        </p:nvSpPr>
        <p:spPr>
          <a:xfrm>
            <a:off x="3648456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úmero 189"/>
          <p:cNvSpPr txBox="1"/>
          <p:nvPr/>
        </p:nvSpPr>
        <p:spPr>
          <a:xfrm>
            <a:off x="364845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o 190"/>
          <p:cNvSpPr txBox="1"/>
          <p:nvPr/>
        </p:nvSpPr>
        <p:spPr>
          <a:xfrm>
            <a:off x="3648456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Corpus Clínico Curado</a:t>
            </a:r>
            <a:endParaRPr lang="en-US" sz="2000" dirty="0"/>
          </a:p>
        </p:txBody>
      </p:sp>
      <p:sp>
        <p:nvSpPr>
          <p:cNvPr id="13" name="Texto 191"/>
          <p:cNvSpPr txBox="1"/>
          <p:nvPr/>
        </p:nvSpPr>
        <p:spPr>
          <a:xfrm>
            <a:off x="3648456" y="4937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pre_training/</a:t>
            </a:r>
            <a:endParaRPr lang="en-US" sz="1400" dirty="0"/>
          </a:p>
        </p:txBody>
      </p:sp>
      <p:sp>
        <p:nvSpPr>
          <p:cNvPr id="14" name="Tarjeta 192"/>
          <p:cNvSpPr/>
          <p:nvPr/>
        </p:nvSpPr>
        <p:spPr>
          <a:xfrm>
            <a:off x="6199632" y="228600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5" name="Círculo 193"/>
          <p:cNvSpPr/>
          <p:nvPr/>
        </p:nvSpPr>
        <p:spPr>
          <a:xfrm>
            <a:off x="6473952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úmero 194"/>
          <p:cNvSpPr txBox="1"/>
          <p:nvPr/>
        </p:nvSpPr>
        <p:spPr>
          <a:xfrm>
            <a:off x="6473952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3</a:t>
            </a:r>
            <a:endParaRPr lang="en-US" sz="2100" dirty="0"/>
          </a:p>
        </p:txBody>
      </p:sp>
      <p:sp>
        <p:nvSpPr>
          <p:cNvPr id="17" name="Texto 195"/>
          <p:cNvSpPr txBox="1"/>
          <p:nvPr/>
        </p:nvSpPr>
        <p:spPr>
          <a:xfrm>
            <a:off x="6473952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Motor RAG Vectorial</a:t>
            </a:r>
            <a:endParaRPr lang="en-US" sz="2000" dirty="0"/>
          </a:p>
        </p:txBody>
      </p:sp>
      <p:sp>
        <p:nvSpPr>
          <p:cNvPr id="18" name="Texto 196"/>
          <p:cNvSpPr txBox="1"/>
          <p:nvPr/>
        </p:nvSpPr>
        <p:spPr>
          <a:xfrm>
            <a:off x="6473952" y="4937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src/rag/engine.py</a:t>
            </a:r>
            <a:endParaRPr lang="en-US" sz="1400" dirty="0"/>
          </a:p>
        </p:txBody>
      </p:sp>
      <p:sp>
        <p:nvSpPr>
          <p:cNvPr id="19" name="Tarjeta 197"/>
          <p:cNvSpPr/>
          <p:nvPr/>
        </p:nvSpPr>
        <p:spPr>
          <a:xfrm>
            <a:off x="9025128" y="228600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0" name="Círculo 198"/>
          <p:cNvSpPr/>
          <p:nvPr/>
        </p:nvSpPr>
        <p:spPr>
          <a:xfrm>
            <a:off x="9299448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úmero 199"/>
          <p:cNvSpPr txBox="1"/>
          <p:nvPr/>
        </p:nvSpPr>
        <p:spPr>
          <a:xfrm>
            <a:off x="929944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4</a:t>
            </a:r>
            <a:endParaRPr lang="en-US" sz="2100" dirty="0"/>
          </a:p>
        </p:txBody>
      </p:sp>
      <p:sp>
        <p:nvSpPr>
          <p:cNvPr id="22" name="Texto 200"/>
          <p:cNvSpPr txBox="1"/>
          <p:nvPr/>
        </p:nvSpPr>
        <p:spPr>
          <a:xfrm>
            <a:off x="9299448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Fine-Tuning y Evaluación</a:t>
            </a:r>
            <a:endParaRPr lang="en-US" sz="2000" dirty="0"/>
          </a:p>
        </p:txBody>
      </p:sp>
      <p:sp>
        <p:nvSpPr>
          <p:cNvPr id="23" name="Texto 201"/>
          <p:cNvSpPr txBox="1"/>
          <p:nvPr/>
        </p:nvSpPr>
        <p:spPr>
          <a:xfrm>
            <a:off x="9299448" y="4937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finetunningpre/ y scripts/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Capa 1: Extracción y Enriquecimiento</a:t>
            </a:r>
            <a:endParaRPr lang="en-US" sz="3400" dirty="0"/>
          </a:p>
        </p:txBody>
      </p:sp>
      <p:sp>
        <p:nvSpPr>
          <p:cNvPr id="3" name="Texto 202"/>
          <p:cNvSpPr txBox="1"/>
          <p:nvPr/>
        </p:nvSpPr>
        <p:spPr>
          <a:xfrm>
            <a:off x="548640" y="10698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600" dirty="0"/>
          </a:p>
        </p:txBody>
      </p:sp>
      <p:sp>
        <p:nvSpPr>
          <p:cNvPr id="4" name="Tarjeta 203"/>
          <p:cNvSpPr/>
          <p:nvPr/>
        </p:nvSpPr>
        <p:spPr>
          <a:xfrm>
            <a:off x="548640" y="1554480"/>
            <a:ext cx="110916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Texto 204"/>
          <p:cNvSpPr txBox="1"/>
          <p:nvPr/>
        </p:nvSpPr>
        <p:spPr>
          <a:xfrm>
            <a:off x="822960" y="155448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src/extractors/pdf_extractor.py</a:t>
            </a:r>
            <a:endParaRPr lang="en-US" sz="1400" dirty="0"/>
          </a:p>
        </p:txBody>
      </p:sp>
      <p:sp>
        <p:nvSpPr>
          <p:cNvPr id="6" name="Texto 205"/>
          <p:cNvSpPr txBox="1"/>
          <p:nvPr/>
        </p:nvSpPr>
        <p:spPr>
          <a:xfrm>
            <a:off x="4846320" y="155448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Implementa CachedPDFExtractor. Para no sobrecargar la CPU leyendo PDFs pesados de 7 MB en cada inicio, extrae las páginas con pdfplumber o pypdf y las almacena en un caché serializado en data/cache/. Si el caché existe, la carga es instantánea.</a:t>
            </a:r>
            <a:endParaRPr lang="en-US" sz="1500" dirty="0"/>
          </a:p>
        </p:txBody>
      </p:sp>
      <p:sp>
        <p:nvSpPr>
          <p:cNvPr id="7" name="Tarjeta 206"/>
          <p:cNvSpPr/>
          <p:nvPr/>
        </p:nvSpPr>
        <p:spPr>
          <a:xfrm>
            <a:off x="548640" y="3108960"/>
            <a:ext cx="110916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8" name="Texto 207"/>
          <p:cNvSpPr txBox="1"/>
          <p:nvPr/>
        </p:nvSpPr>
        <p:spPr>
          <a:xfrm>
            <a:off x="822960" y="31089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src/extractors/jufe_extractor.py y canmat_extractor.py</a:t>
            </a:r>
            <a:endParaRPr lang="en-US" sz="1400" dirty="0"/>
          </a:p>
        </p:txBody>
      </p:sp>
      <p:sp>
        <p:nvSpPr>
          <p:cNvPr id="9" name="Texto 208"/>
          <p:cNvSpPr txBox="1"/>
          <p:nvPr/>
        </p:nvSpPr>
        <p:spPr>
          <a:xfrm>
            <a:off x="4846320" y="310896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Utilizan expresiones regulares y mapeos estructurados para transformar textos médicos libres en DataFrames limpios, separando efectos adversos en graves o comunes.</a:t>
            </a:r>
            <a:endParaRPr lang="en-US" sz="1500" dirty="0"/>
          </a:p>
        </p:txBody>
      </p:sp>
      <p:sp>
        <p:nvSpPr>
          <p:cNvPr id="10" name="Tarjeta 209"/>
          <p:cNvSpPr/>
          <p:nvPr/>
        </p:nvSpPr>
        <p:spPr>
          <a:xfrm>
            <a:off x="548640" y="4663440"/>
            <a:ext cx="110916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Texto 210"/>
          <p:cNvSpPr txBox="1"/>
          <p:nvPr/>
        </p:nvSpPr>
        <p:spPr>
          <a:xfrm>
            <a:off x="822960" y="466344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src/enrichers/atc_enricher.py</a:t>
            </a:r>
            <a:endParaRPr lang="en-US" sz="1400" dirty="0"/>
          </a:p>
        </p:txBody>
      </p:sp>
      <p:sp>
        <p:nvSpPr>
          <p:cNvPr id="12" name="Texto 211"/>
          <p:cNvSpPr txBox="1"/>
          <p:nvPr/>
        </p:nvSpPr>
        <p:spPr>
          <a:xfrm>
            <a:off x="4846320" y="4663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Contiene la clase ATCEnricher y la normalización unicode de cadenas. Cruza cada principio activo con su código ATC oficial (niveles 1 a 4) y sus marcas comerciales.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Capa 2: Corpus Clínico Curado</a:t>
            </a:r>
            <a:endParaRPr lang="en-US" sz="3400" dirty="0"/>
          </a:p>
        </p:txBody>
      </p:sp>
      <p:sp>
        <p:nvSpPr>
          <p:cNvPr id="3" name="Texto 212"/>
          <p:cNvSpPr txBox="1"/>
          <p:nvPr/>
        </p:nvSpPr>
        <p:spPr>
          <a:xfrm>
            <a:off x="548640" y="10698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pre_training/</a:t>
            </a:r>
            <a:endParaRPr lang="en-US" sz="1600" dirty="0"/>
          </a:p>
        </p:txBody>
      </p:sp>
      <p:sp>
        <p:nvSpPr>
          <p:cNvPr id="4" name="Tarjeta 213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5" name="Texto 214"/>
          <p:cNvSpPr txBox="1"/>
          <p:nvPr/>
        </p:nvSpPr>
        <p:spPr>
          <a:xfrm>
            <a:off x="868680" y="16916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27</a:t>
            </a:r>
            <a:endParaRPr lang="en-US" sz="8000" dirty="0"/>
          </a:p>
        </p:txBody>
      </p:sp>
      <p:sp>
        <p:nvSpPr>
          <p:cNvPr id="6" name="Texto 215"/>
          <p:cNvSpPr txBox="1"/>
          <p:nvPr/>
        </p:nvSpPr>
        <p:spPr>
          <a:xfrm>
            <a:off x="868680" y="30175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documentos en Markdown, divididos en 5 categorías:</a:t>
            </a:r>
            <a:endParaRPr lang="en-US" sz="1800" dirty="0"/>
          </a:p>
        </p:txBody>
      </p:sp>
      <p:sp>
        <p:nvSpPr>
          <p:cNvPr id="7" name="Texto 216"/>
          <p:cNvSpPr txBox="1"/>
          <p:nvPr/>
        </p:nvSpPr>
        <p:spPr>
          <a:xfrm>
            <a:off x="868680" y="379476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Monografías farmacológicas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Interacciones CYP450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Cascadas de prescripción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Algoritmos CANMAT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Alertas de caja negra</a:t>
            </a:r>
            <a:endParaRPr lang="en-US" sz="1600" dirty="0"/>
          </a:p>
        </p:txBody>
      </p:sp>
      <p:sp>
        <p:nvSpPr>
          <p:cNvPr id="8" name="Tarjeta 217"/>
          <p:cNvSpPr/>
          <p:nvPr/>
        </p:nvSpPr>
        <p:spPr>
          <a:xfrm>
            <a:off x="5788152" y="1554480"/>
            <a:ext cx="58521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Texto 218"/>
          <p:cNvSpPr txBox="1"/>
          <p:nvPr/>
        </p:nvSpPr>
        <p:spPr>
          <a:xfrm>
            <a:off x="6080760" y="1737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Encabezado YAML Frontmatter estándar</a:t>
            </a:r>
            <a:endParaRPr lang="en-US" sz="2000" dirty="0"/>
          </a:p>
        </p:txBody>
      </p:sp>
      <p:sp>
        <p:nvSpPr>
          <p:cNvPr id="10" name="Texto 219"/>
          <p:cNvSpPr txBox="1"/>
          <p:nvPr/>
        </p:nvSpPr>
        <p:spPr>
          <a:xfrm>
            <a:off x="6080760" y="22860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 campos id, tipo, atc_codigo, enzimas_cyp, nivel_riesgo, etc., para permitir filtrado híbrido.</a:t>
            </a:r>
            <a:endParaRPr lang="en-US" sz="1600" dirty="0"/>
          </a:p>
        </p:txBody>
      </p:sp>
      <p:sp>
        <p:nvSpPr>
          <p:cNvPr id="11" name="Tarjeta 220"/>
          <p:cNvSpPr/>
          <p:nvPr/>
        </p:nvSpPr>
        <p:spPr>
          <a:xfrm>
            <a:off x="5788152" y="3611880"/>
            <a:ext cx="58521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Texto 221"/>
          <p:cNvSpPr txBox="1"/>
          <p:nvPr/>
        </p:nvSpPr>
        <p:spPr>
          <a:xfrm>
            <a:off x="6080760" y="3749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Bloque formal Voice Snippet</a:t>
            </a:r>
            <a:endParaRPr lang="en-US" sz="2000" dirty="0"/>
          </a:p>
        </p:txBody>
      </p:sp>
      <p:sp>
        <p:nvSpPr>
          <p:cNvPr id="13" name="Texto 222"/>
          <p:cNvSpPr txBox="1"/>
          <p:nvPr/>
        </p:nvSpPr>
        <p:spPr>
          <a:xfrm>
            <a:off x="6080760" y="4297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Prosa continua de menos de 130 palabras, optimizada para síntesis de voz sin distorsiones prosódicas.</a:t>
            </a:r>
            <a:endParaRPr lang="en-US" sz="1600" dirty="0"/>
          </a:p>
        </p:txBody>
      </p:sp>
      <p:sp>
        <p:nvSpPr>
          <p:cNvPr id="14" name="Tarjeta 223"/>
          <p:cNvSpPr/>
          <p:nvPr/>
        </p:nvSpPr>
        <p:spPr>
          <a:xfrm>
            <a:off x="5788152" y="5394960"/>
            <a:ext cx="585216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5" name="Texto 224"/>
          <p:cNvSpPr txBox="1"/>
          <p:nvPr/>
        </p:nvSpPr>
        <p:spPr>
          <a:xfrm>
            <a:off x="6035040" y="53949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 autogenera y valida con scripts propios: build_pretraining_corpus.py y validate_pretraining_corpus.py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Capa 3: Motor RAG Vectorial</a:t>
            </a:r>
            <a:endParaRPr lang="en-US" sz="3400" dirty="0"/>
          </a:p>
        </p:txBody>
      </p:sp>
      <p:sp>
        <p:nvSpPr>
          <p:cNvPr id="3" name="Texto 225"/>
          <p:cNvSpPr txBox="1"/>
          <p:nvPr/>
        </p:nvSpPr>
        <p:spPr>
          <a:xfrm>
            <a:off x="548640" y="10698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src/rag/engine.py</a:t>
            </a:r>
            <a:endParaRPr lang="en-US" sz="1600" dirty="0"/>
          </a:p>
        </p:txBody>
      </p:sp>
      <p:sp>
        <p:nvSpPr>
          <p:cNvPr id="4" name="Tarjeta 226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Texto 227"/>
          <p:cNvSpPr txBox="1"/>
          <p:nvPr/>
        </p:nvSpPr>
        <p:spPr>
          <a:xfrm>
            <a:off x="82296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ClinicalVectorStore: almacén vectorial dual</a:t>
            </a:r>
            <a:endParaRPr lang="en-US" sz="2000" dirty="0"/>
          </a:p>
        </p:txBody>
      </p:sp>
      <p:sp>
        <p:nvSpPr>
          <p:cNvPr id="6" name="Texto 228"/>
          <p:cNvSpPr txBox="1"/>
          <p:nvPr/>
        </p:nvSpPr>
        <p:spPr>
          <a:xfrm>
            <a:off x="822960" y="2286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 iniciar, verifica si el servicio local de Ollama está activo en el puerto 11434 con el modelo embeddinggemma:latest.</a:t>
            </a:r>
            <a:endParaRPr lang="en-US" sz="1600" dirty="0"/>
          </a:p>
        </p:txBody>
      </p:sp>
      <p:sp>
        <p:nvSpPr>
          <p:cNvPr id="7" name="Tarjeta 229"/>
          <p:cNvSpPr/>
          <p:nvPr/>
        </p:nvSpPr>
        <p:spPr>
          <a:xfrm>
            <a:off x="822960" y="3337560"/>
            <a:ext cx="4937760" cy="640080"/>
          </a:xfrm>
          <a:prstGeom prst="roundRect">
            <a:avLst>
              <a:gd name="adj" fmla="val 17143"/>
            </a:avLst>
          </a:prstGeom>
          <a:solidFill>
            <a:schemeClr val="accent5"/>
          </a:solidFill>
          <a:ln/>
        </p:spPr>
      </p:sp>
      <p:sp>
        <p:nvSpPr>
          <p:cNvPr id="8" name="Texto 230"/>
          <p:cNvSpPr txBox="1"/>
          <p:nvPr/>
        </p:nvSpPr>
        <p:spPr>
          <a:xfrm>
            <a:off x="1005840" y="3337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 está disponible: genera embeddings densos</a:t>
            </a:r>
            <a:endParaRPr lang="en-US" sz="1600" dirty="0"/>
          </a:p>
        </p:txBody>
      </p:sp>
      <p:sp>
        <p:nvSpPr>
          <p:cNvPr id="9" name="Tarjeta 231"/>
          <p:cNvSpPr/>
          <p:nvPr/>
        </p:nvSpPr>
        <p:spPr>
          <a:xfrm>
            <a:off x="822960" y="4114800"/>
            <a:ext cx="493776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0" name="Texto 232"/>
          <p:cNvSpPr txBox="1"/>
          <p:nvPr/>
        </p:nvSpPr>
        <p:spPr>
          <a:xfrm>
            <a:off x="1005840" y="41148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 no lo está: conmuta automáticamente a un fallback local con TF-IDF n-gram (1,2) de scikit-learn y similitud coseno</a:t>
            </a:r>
            <a:endParaRPr lang="en-US" sz="1600" dirty="0"/>
          </a:p>
        </p:txBody>
      </p:sp>
      <p:sp>
        <p:nvSpPr>
          <p:cNvPr id="11" name="Texto 233"/>
          <p:cNvSpPr txBox="1"/>
          <p:nvPr/>
        </p:nvSpPr>
        <p:spPr>
          <a:xfrm>
            <a:off x="822960" y="5440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Así, Sofia siempre funciona, incluso sin conexión a internet ni GPU dedicada.</a:t>
            </a:r>
            <a:endParaRPr lang="en-US" sz="1500" dirty="0"/>
          </a:p>
        </p:txBody>
      </p:sp>
      <p:sp>
        <p:nvSpPr>
          <p:cNvPr id="12" name="Tarjeta 234"/>
          <p:cNvSpPr/>
          <p:nvPr/>
        </p:nvSpPr>
        <p:spPr>
          <a:xfrm>
            <a:off x="6336792" y="1554480"/>
            <a:ext cx="530352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13" name="Texto 235"/>
          <p:cNvSpPr txBox="1"/>
          <p:nvPr/>
        </p:nvSpPr>
        <p:spPr>
          <a:xfrm>
            <a:off x="6629400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ClinicalRAGEngine</a:t>
            </a:r>
            <a:endParaRPr lang="en-US" sz="2000" dirty="0"/>
          </a:p>
        </p:txBody>
      </p:sp>
      <p:sp>
        <p:nvSpPr>
          <p:cNvPr id="14" name="Círculo 236"/>
          <p:cNvSpPr/>
          <p:nvPr/>
        </p:nvSpPr>
        <p:spPr>
          <a:xfrm>
            <a:off x="6629400" y="2468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úmero 237"/>
          <p:cNvSpPr txBox="1"/>
          <p:nvPr/>
        </p:nvSpPr>
        <p:spPr>
          <a:xfrm>
            <a:off x="66294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o 238"/>
          <p:cNvSpPr txBox="1"/>
          <p:nvPr/>
        </p:nvSpPr>
        <p:spPr>
          <a:xfrm>
            <a:off x="7360920" y="23774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Toma la consulta</a:t>
            </a:r>
            <a:endParaRPr lang="en-US" sz="1600" dirty="0"/>
          </a:p>
        </p:txBody>
      </p:sp>
      <p:sp>
        <p:nvSpPr>
          <p:cNvPr id="17" name="Círculo 239"/>
          <p:cNvSpPr/>
          <p:nvPr/>
        </p:nvSpPr>
        <p:spPr>
          <a:xfrm>
            <a:off x="6629400" y="3429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úmero 240"/>
          <p:cNvSpPr txBox="1"/>
          <p:nvPr/>
        </p:nvSpPr>
        <p:spPr>
          <a:xfrm>
            <a:off x="66294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o 241"/>
          <p:cNvSpPr txBox="1"/>
          <p:nvPr/>
        </p:nvSpPr>
        <p:spPr>
          <a:xfrm>
            <a:off x="7360920" y="33375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Recupera los top-3 documentos del corpus</a:t>
            </a:r>
            <a:endParaRPr lang="en-US" sz="1600" dirty="0"/>
          </a:p>
        </p:txBody>
      </p:sp>
      <p:sp>
        <p:nvSpPr>
          <p:cNvPr id="20" name="Círculo 242"/>
          <p:cNvSpPr/>
          <p:nvPr/>
        </p:nvSpPr>
        <p:spPr>
          <a:xfrm>
            <a:off x="6629400" y="4389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úmero 243"/>
          <p:cNvSpPr txBox="1"/>
          <p:nvPr/>
        </p:nvSpPr>
        <p:spPr>
          <a:xfrm>
            <a:off x="66294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o 244"/>
          <p:cNvSpPr txBox="1"/>
          <p:nvPr/>
        </p:nvSpPr>
        <p:spPr>
          <a:xfrm>
            <a:off x="7360920" y="42976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Ensambla el contexto con sus metadatos</a:t>
            </a:r>
            <a:endParaRPr lang="en-US" sz="1600" dirty="0"/>
          </a:p>
        </p:txBody>
      </p:sp>
      <p:sp>
        <p:nvSpPr>
          <p:cNvPr id="23" name="Círculo 245"/>
          <p:cNvSpPr/>
          <p:nvPr/>
        </p:nvSpPr>
        <p:spPr>
          <a:xfrm>
            <a:off x="6629400" y="5349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Número 246"/>
          <p:cNvSpPr txBox="1"/>
          <p:nvPr/>
        </p:nvSpPr>
        <p:spPr>
          <a:xfrm>
            <a:off x="662940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o 247"/>
          <p:cNvSpPr txBox="1"/>
          <p:nvPr/>
        </p:nvSpPr>
        <p:spPr>
          <a:xfrm>
            <a:off x="7360920" y="52578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Ejecuta el LLM (qwen3.5:2b-mlx en Ollama) bajo el Prompt Clínico de Sofia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 Prompt Clínico de Sofia</a:t>
            </a:r>
            <a:endParaRPr lang="en-US" sz="3400" dirty="0"/>
          </a:p>
        </p:txBody>
      </p:sp>
      <p:sp>
        <p:nvSpPr>
          <p:cNvPr id="3" name="Texto 248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Instrucciones estrictas:</a:t>
            </a:r>
            <a:endParaRPr lang="en-US" sz="1800" dirty="0"/>
          </a:p>
        </p:txBody>
      </p:sp>
      <p:sp>
        <p:nvSpPr>
          <p:cNvPr id="4" name="Tarjeta 249"/>
          <p:cNvSpPr/>
          <p:nvPr/>
        </p:nvSpPr>
        <p:spPr>
          <a:xfrm>
            <a:off x="548640" y="187452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5" name="Círculo 250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úmero 251"/>
          <p:cNvSpPr txBox="1"/>
          <p:nvPr/>
        </p:nvSpPr>
        <p:spPr>
          <a:xfrm>
            <a:off x="8229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o 252"/>
          <p:cNvSpPr txBox="1"/>
          <p:nvPr/>
        </p:nvSpPr>
        <p:spPr>
          <a:xfrm>
            <a:off x="1691640" y="19659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Prohíbe citas a nombres personales</a:t>
            </a:r>
            <a:endParaRPr lang="en-US" sz="2000" dirty="0"/>
          </a:p>
        </p:txBody>
      </p:sp>
      <p:sp>
        <p:nvSpPr>
          <p:cNvPr id="8" name="Texto 253"/>
          <p:cNvSpPr txBox="1"/>
          <p:nvPr/>
        </p:nvSpPr>
        <p:spPr>
          <a:xfrm>
            <a:off x="169164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(‘Según la Dra. Jufe...’) para evitar falsas atribuciones</a:t>
            </a:r>
            <a:endParaRPr lang="en-US" sz="1600" dirty="0"/>
          </a:p>
        </p:txBody>
      </p:sp>
      <p:sp>
        <p:nvSpPr>
          <p:cNvPr id="9" name="Tarjeta 254"/>
          <p:cNvSpPr/>
          <p:nvPr/>
        </p:nvSpPr>
        <p:spPr>
          <a:xfrm>
            <a:off x="548640" y="297180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Círculo 255"/>
          <p:cNvSpPr/>
          <p:nvPr/>
        </p:nvSpPr>
        <p:spPr>
          <a:xfrm>
            <a:off x="822960" y="3154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úmero 256"/>
          <p:cNvSpPr txBox="1"/>
          <p:nvPr/>
        </p:nvSpPr>
        <p:spPr>
          <a:xfrm>
            <a:off x="822960" y="3154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o 257"/>
          <p:cNvSpPr txBox="1"/>
          <p:nvPr/>
        </p:nvSpPr>
        <p:spPr>
          <a:xfrm>
            <a:off x="1691640" y="30632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Exige citar códigos identificadores entre corchetes</a:t>
            </a:r>
            <a:endParaRPr lang="en-US" sz="2000" dirty="0"/>
          </a:p>
        </p:txBody>
      </p:sp>
      <p:sp>
        <p:nvSpPr>
          <p:cNvPr id="13" name="Texto 258"/>
          <p:cNvSpPr txBox="1"/>
          <p:nvPr/>
        </p:nvSpPr>
        <p:spPr>
          <a:xfrm>
            <a:off x="1691640" y="3474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 ejemplo: [MONO-SERTRALINA-001]</a:t>
            </a:r>
            <a:endParaRPr lang="en-US" sz="1600" dirty="0"/>
          </a:p>
        </p:txBody>
      </p:sp>
      <p:sp>
        <p:nvSpPr>
          <p:cNvPr id="14" name="Tarjeta 259"/>
          <p:cNvSpPr/>
          <p:nvPr/>
        </p:nvSpPr>
        <p:spPr>
          <a:xfrm>
            <a:off x="548640" y="406908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5" name="Círculo 260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Número 261"/>
          <p:cNvSpPr txBox="1"/>
          <p:nvPr/>
        </p:nvSpPr>
        <p:spPr>
          <a:xfrm>
            <a:off x="82296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o 262"/>
          <p:cNvSpPr txBox="1"/>
          <p:nvPr/>
        </p:nvSpPr>
        <p:spPr>
          <a:xfrm>
            <a:off x="1691640" y="40690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Obliga a identificar citocromos</a:t>
            </a:r>
            <a:endParaRPr lang="en-US" sz="2000" dirty="0"/>
          </a:p>
        </p:txBody>
      </p:sp>
      <p:sp>
        <p:nvSpPr>
          <p:cNvPr id="18" name="Tarjeta 263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9" name="Círculo 264"/>
          <p:cNvSpPr/>
          <p:nvPr/>
        </p:nvSpPr>
        <p:spPr>
          <a:xfrm>
            <a:off x="822960" y="5349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Número 265"/>
          <p:cNvSpPr txBox="1"/>
          <p:nvPr/>
        </p:nvSpPr>
        <p:spPr>
          <a:xfrm>
            <a:off x="822960" y="5349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o 266"/>
          <p:cNvSpPr txBox="1"/>
          <p:nvPr/>
        </p:nvSpPr>
        <p:spPr>
          <a:xfrm>
            <a:off x="1691640" y="516636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Exige estructurar la respuesta en los 4 apartados clínicos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Capa 4: Fine-Tuning y Evaluación</a:t>
            </a:r>
            <a:endParaRPr lang="en-US" sz="3400" dirty="0"/>
          </a:p>
        </p:txBody>
      </p:sp>
      <p:sp>
        <p:nvSpPr>
          <p:cNvPr id="3" name="Texto 267"/>
          <p:cNvSpPr txBox="1"/>
          <p:nvPr/>
        </p:nvSpPr>
        <p:spPr>
          <a:xfrm>
            <a:off x="548640" y="10698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finetunningpre/ y scripts/</a:t>
            </a:r>
            <a:endParaRPr lang="en-US" sz="1600" dirty="0"/>
          </a:p>
        </p:txBody>
      </p:sp>
      <p:sp>
        <p:nvSpPr>
          <p:cNvPr id="4" name="Texto 268"/>
          <p:cNvSpPr txBox="1"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Para llevar el modelo a un nivel de especialización superior</a:t>
            </a:r>
            <a:endParaRPr lang="en-US" sz="1800" dirty="0"/>
          </a:p>
        </p:txBody>
      </p:sp>
      <p:sp>
        <p:nvSpPr>
          <p:cNvPr id="5" name="Tarjeta 269"/>
          <p:cNvSpPr/>
          <p:nvPr/>
        </p:nvSpPr>
        <p:spPr>
          <a:xfrm>
            <a:off x="548640" y="2011680"/>
            <a:ext cx="5394960" cy="41148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/>
        </p:spPr>
      </p:sp>
      <p:sp>
        <p:nvSpPr>
          <p:cNvPr id="6" name="Texto 270"/>
          <p:cNvSpPr txBox="1"/>
          <p:nvPr/>
        </p:nvSpPr>
        <p:spPr>
          <a:xfrm>
            <a:off x="86868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build_finetuning_dataset.py</a:t>
            </a:r>
            <a:endParaRPr lang="en-US" sz="1600" dirty="0"/>
          </a:p>
        </p:txBody>
      </p:sp>
      <p:sp>
        <p:nvSpPr>
          <p:cNvPr id="7" name="Texto 271"/>
          <p:cNvSpPr txBox="1"/>
          <p:nvPr/>
        </p:nvSpPr>
        <p:spPr>
          <a:xfrm>
            <a:off x="868680" y="2788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29</a:t>
            </a:r>
            <a:endParaRPr lang="en-US" sz="8000" dirty="0"/>
          </a:p>
        </p:txBody>
      </p:sp>
      <p:sp>
        <p:nvSpPr>
          <p:cNvPr id="8" name="Texto 272"/>
          <p:cNvSpPr txBox="1"/>
          <p:nvPr/>
        </p:nvSpPr>
        <p:spPr>
          <a:xfrm>
            <a:off x="86868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casos clínicos complejos doctor-a-doctor</a:t>
            </a:r>
            <a:endParaRPr lang="en-US" sz="2000" dirty="0"/>
          </a:p>
        </p:txBody>
      </p:sp>
      <p:sp>
        <p:nvSpPr>
          <p:cNvPr id="9" name="Texto 273"/>
          <p:cNvSpPr txBox="1"/>
          <p:nvPr/>
        </p:nvSpPr>
        <p:spPr>
          <a:xfrm>
            <a:off x="86868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Formato JSONL / ChatML</a:t>
            </a:r>
            <a:endParaRPr lang="en-US" sz="1800" dirty="0"/>
          </a:p>
        </p:txBody>
      </p:sp>
      <p:sp>
        <p:nvSpPr>
          <p:cNvPr id="10" name="Tarjeta 274"/>
          <p:cNvSpPr/>
          <p:nvPr/>
        </p:nvSpPr>
        <p:spPr>
          <a:xfrm>
            <a:off x="6245352" y="2011680"/>
            <a:ext cx="539496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1" name="Texto 275"/>
          <p:cNvSpPr txBox="1"/>
          <p:nvPr/>
        </p:nvSpPr>
        <p:spPr>
          <a:xfrm>
            <a:off x="6565392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scripts/evaluate_rag.py</a:t>
            </a:r>
            <a:endParaRPr lang="en-US" sz="1600" dirty="0"/>
          </a:p>
        </p:txBody>
      </p:sp>
      <p:sp>
        <p:nvSpPr>
          <p:cNvPr id="12" name="Texto 276"/>
          <p:cNvSpPr txBox="1"/>
          <p:nvPr/>
        </p:nvSpPr>
        <p:spPr>
          <a:xfrm>
            <a:off x="6565392" y="2788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Audita la Tríada de RAG:</a:t>
            </a:r>
            <a:endParaRPr lang="en-US" sz="2000" dirty="0"/>
          </a:p>
        </p:txBody>
      </p:sp>
      <p:sp>
        <p:nvSpPr>
          <p:cNvPr id="13" name="Texto 277"/>
          <p:cNvSpPr txBox="1"/>
          <p:nvPr/>
        </p:nvSpPr>
        <p:spPr>
          <a:xfrm>
            <a:off x="6565392" y="33375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Context recall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Relevancia de entidades médicas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Fidelidad en las 4 secciones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Longitud de voz</a:t>
            </a:r>
            <a:endParaRPr lang="en-US" sz="1800" dirty="0"/>
          </a:p>
        </p:txBody>
      </p:sp>
      <p:sp>
        <p:nvSpPr>
          <p:cNvPr id="14" name="Texto 278"/>
          <p:cNvSpPr txBox="1"/>
          <p:nvPr/>
        </p:nvSpPr>
        <p:spPr>
          <a:xfrm>
            <a:off x="6565392" y="5212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Guarda las métricas en un reporte auditable.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Conclusión</a:t>
            </a:r>
            <a:endParaRPr lang="en-US" sz="4000" dirty="0"/>
          </a:p>
        </p:txBody>
      </p:sp>
      <p:sp>
        <p:nvSpPr>
          <p:cNvPr id="3" name="Texto 279"/>
          <p:cNvSpPr txBox="1"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La Inteligencia Artificial aplicada a la medicina no debe basarse en respuestas de ‘caja negra’. Sofia combina:</a:t>
            </a:r>
            <a:endParaRPr lang="en-US" sz="2000" dirty="0"/>
          </a:p>
        </p:txBody>
      </p:sp>
      <p:sp>
        <p:nvSpPr>
          <p:cNvPr id="4" name="Tarjeta 280"/>
          <p:cNvSpPr/>
          <p:nvPr/>
        </p:nvSpPr>
        <p:spPr>
          <a:xfrm>
            <a:off x="822960" y="251460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</p:sp>
      <p:sp>
        <p:nvSpPr>
          <p:cNvPr id="5" name="Texto 281"/>
          <p:cNvSpPr txBox="1"/>
          <p:nvPr/>
        </p:nvSpPr>
        <p:spPr>
          <a:xfrm>
            <a:off x="96012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Extracción de literatura validada</a:t>
            </a:r>
            <a:endParaRPr lang="en-US" sz="1800" dirty="0"/>
          </a:p>
        </p:txBody>
      </p:sp>
      <p:sp>
        <p:nvSpPr>
          <p:cNvPr id="6" name="Tarjeta 282"/>
          <p:cNvSpPr/>
          <p:nvPr/>
        </p:nvSpPr>
        <p:spPr>
          <a:xfrm>
            <a:off x="3520440" y="251460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</p:sp>
      <p:sp>
        <p:nvSpPr>
          <p:cNvPr id="7" name="Texto 283"/>
          <p:cNvSpPr txBox="1"/>
          <p:nvPr/>
        </p:nvSpPr>
        <p:spPr>
          <a:xfrm>
            <a:off x="365760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Clasificación ATC de la OMS</a:t>
            </a:r>
            <a:endParaRPr lang="en-US" sz="1800" dirty="0"/>
          </a:p>
        </p:txBody>
      </p:sp>
      <p:sp>
        <p:nvSpPr>
          <p:cNvPr id="8" name="Tarjeta 284"/>
          <p:cNvSpPr/>
          <p:nvPr/>
        </p:nvSpPr>
        <p:spPr>
          <a:xfrm>
            <a:off x="6217920" y="251460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</p:sp>
      <p:sp>
        <p:nvSpPr>
          <p:cNvPr id="9" name="Texto 285"/>
          <p:cNvSpPr txBox="1"/>
          <p:nvPr/>
        </p:nvSpPr>
        <p:spPr>
          <a:xfrm>
            <a:off x="635508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Motor RAG híbrido</a:t>
            </a:r>
            <a:endParaRPr lang="en-US" sz="1800" dirty="0"/>
          </a:p>
        </p:txBody>
      </p:sp>
      <p:sp>
        <p:nvSpPr>
          <p:cNvPr id="10" name="Tarjeta 286"/>
          <p:cNvSpPr/>
          <p:nvPr/>
        </p:nvSpPr>
        <p:spPr>
          <a:xfrm>
            <a:off x="8915400" y="2514600"/>
            <a:ext cx="246888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</p:sp>
      <p:sp>
        <p:nvSpPr>
          <p:cNvPr id="11" name="Texto 287"/>
          <p:cNvSpPr txBox="1"/>
          <p:nvPr/>
        </p:nvSpPr>
        <p:spPr>
          <a:xfrm>
            <a:off x="9052560" y="25146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Diseño centrado en el profesional sanitario</a:t>
            </a:r>
            <a:endParaRPr lang="en-US" sz="1800" dirty="0"/>
          </a:p>
        </p:txBody>
      </p:sp>
      <p:sp>
        <p:nvSpPr>
          <p:cNvPr id="12" name="Texto 288"/>
          <p:cNvSpPr txBox="1"/>
          <p:nvPr/>
        </p:nvSpPr>
        <p:spPr>
          <a:xfrm>
            <a:off x="822960" y="4114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Una herramienta rápida, explicable y segura que combate la polifarmacia y protege al paciente.</a:t>
            </a:r>
            <a:endParaRPr lang="en-US" sz="2400" dirty="0"/>
          </a:p>
        </p:txBody>
      </p:sp>
      <p:sp>
        <p:nvSpPr>
          <p:cNvPr id="13" name="Texto 289"/>
          <p:cNvSpPr txBox="1"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Muchas gracias por su atención. Quedo a su disposición para responder cualquier duda o realizar una demostración en vivo de la aplicación.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ia">
  <a:themeElements>
    <a:clrScheme name="Sofia">
      <a:dk1>
        <a:srgbClr val="12313B"/>
      </a:dk1>
      <a:lt1>
        <a:srgbClr val="FFFFFF"/>
      </a:lt1>
      <a:dk2>
        <a:srgbClr val="0B3C49"/>
      </a:dk2>
      <a:lt2>
        <a:srgbClr val="EAF4F4"/>
      </a:lt2>
      <a:accent1>
        <a:srgbClr val="028090"/>
      </a:accent1>
      <a:accent2>
        <a:srgbClr val="02C39A"/>
      </a:accent2>
      <a:accent3>
        <a:srgbClr val="C0392B"/>
      </a:accent3>
      <a:accent4>
        <a:srgbClr val="E0A100"/>
      </a:accent4>
      <a:accent5>
        <a:srgbClr val="2E9E5B"/>
      </a:accent5>
      <a:accent6>
        <a:srgbClr val="5B6C8F"/>
      </a:accent6>
      <a:hlink>
        <a:srgbClr val="028090"/>
      </a:hlink>
      <a:folHlink>
        <a:srgbClr val="5B6C8F"/>
      </a:folHlink>
    </a:clrScheme>
    <a:fontScheme name="Sofi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Sofia: RAG clínico contra la polifarmacia</dc:title>
  <dc:subject>PptxGenJS Presentation</dc:subject>
  <dc:creator>PptxGenJS</dc:creator>
  <cp:lastModifiedBy>PptxGenJS</cp:lastModifiedBy>
  <cp:revision>1</cp:revision>
  <dcterms:created xsi:type="dcterms:W3CDTF">2026-10-23T09:30:21Z</dcterms:created>
  <dcterms:modified xsi:type="dcterms:W3CDTF">2026-10-23T09:30:21Z</dcterms:modified>
</cp:coreProperties>
</file>